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4.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1.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4.png"/><Relationship Id="rId11" Type="http://schemas.openxmlformats.org/officeDocument/2006/relationships/image" Target="../media/image38.png"/><Relationship Id="rId5" Type="http://schemas.openxmlformats.org/officeDocument/2006/relationships/image" Target="../media/image33.png"/><Relationship Id="rId10" Type="http://schemas.openxmlformats.org/officeDocument/2006/relationships/image" Target="../media/image37.png"/><Relationship Id="rId4" Type="http://schemas.openxmlformats.org/officeDocument/2006/relationships/image" Target="../media/image32.png"/><Relationship Id="rId9" Type="http://schemas.openxmlformats.org/officeDocument/2006/relationships/image" Target="../media/image36.png"/></Relationships>
</file>

<file path=ppt/slides/_rels/slide11.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9.png"/><Relationship Id="rId7"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46.png"/><Relationship Id="rId5" Type="http://schemas.openxmlformats.org/officeDocument/2006/relationships/image" Target="../media/image41.png"/><Relationship Id="rId10" Type="http://schemas.openxmlformats.org/officeDocument/2006/relationships/image" Target="../media/image45.png"/><Relationship Id="rId4" Type="http://schemas.openxmlformats.org/officeDocument/2006/relationships/image" Target="../media/image40.png"/><Relationship Id="rId9" Type="http://schemas.openxmlformats.org/officeDocument/2006/relationships/image" Target="../media/image44.png"/></Relationships>
</file>

<file path=ppt/slides/_rels/slide1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921996" y="1000125"/>
            <a:ext cx="5117455" cy="4857750"/>
          </a:xfrm>
          <a:prstGeom prst="rect">
            <a:avLst/>
          </a:prstGeom>
        </p:spPr>
      </p:pic>
      <p:pic>
        <p:nvPicPr>
          <p:cNvPr id="4" name="Picture 3" descr="image.png"/>
          <p:cNvPicPr>
            <a:picLocks noChangeAspect="1"/>
          </p:cNvPicPr>
          <p:nvPr/>
        </p:nvPicPr>
        <p:blipFill>
          <a:blip r:embed="rId4"/>
          <a:stretch>
            <a:fillRect/>
          </a:stretch>
        </p:blipFill>
        <p:spPr>
          <a:xfrm>
            <a:off x="533400" y="4531667"/>
            <a:ext cx="6007596" cy="592931"/>
          </a:xfrm>
          <a:prstGeom prst="rect">
            <a:avLst/>
          </a:prstGeom>
        </p:spPr>
      </p:pic>
      <p:pic>
        <p:nvPicPr>
          <p:cNvPr id="5" name="Picture 4" descr="image.png"/>
          <p:cNvPicPr>
            <a:picLocks noChangeAspect="1"/>
          </p:cNvPicPr>
          <p:nvPr/>
        </p:nvPicPr>
        <p:blipFill>
          <a:blip r:embed="rId5"/>
          <a:stretch>
            <a:fillRect/>
          </a:stretch>
        </p:blipFill>
        <p:spPr>
          <a:xfrm>
            <a:off x="533400" y="6367462"/>
            <a:ext cx="11125200" cy="300037"/>
          </a:xfrm>
          <a:prstGeom prst="rect">
            <a:avLst/>
          </a:prstGeom>
        </p:spPr>
      </p:pic>
      <p:sp>
        <p:nvSpPr>
          <p:cNvPr id="6" name="TextBox 5"/>
          <p:cNvSpPr txBox="1"/>
          <p:nvPr/>
        </p:nvSpPr>
        <p:spPr>
          <a:xfrm>
            <a:off x="533400" y="6453187"/>
            <a:ext cx="2495550"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Maximizing Revenue for Taxi Drivers</a:t>
            </a:r>
          </a:p>
        </p:txBody>
      </p:sp>
      <p:sp>
        <p:nvSpPr>
          <p:cNvPr id="7" name="TextBox 6"/>
          <p:cNvSpPr txBox="1"/>
          <p:nvPr/>
        </p:nvSpPr>
        <p:spPr>
          <a:xfrm>
            <a:off x="10982325" y="6453187"/>
            <a:ext cx="676275"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Slide 1 / 11</a:t>
            </a:r>
          </a:p>
        </p:txBody>
      </p:sp>
      <p:sp>
        <p:nvSpPr>
          <p:cNvPr id="8" name="TextBox 7"/>
          <p:cNvSpPr txBox="1"/>
          <p:nvPr/>
        </p:nvSpPr>
        <p:spPr>
          <a:xfrm>
            <a:off x="533400" y="1733252"/>
            <a:ext cx="6307975" cy="1571625"/>
          </a:xfrm>
          <a:prstGeom prst="rect">
            <a:avLst/>
          </a:prstGeom>
          <a:noFill/>
        </p:spPr>
        <p:txBody>
          <a:bodyPr wrap="square" lIns="0" tIns="0" rIns="0" bIns="0" anchor="t">
            <a:spAutoFit/>
          </a:bodyPr>
          <a:lstStyle/>
          <a:p>
            <a:pPr algn="l">
              <a:lnSpc>
                <a:spcPts val="4125"/>
              </a:lnSpc>
            </a:pPr>
            <a:r>
              <a:rPr sz="3750" b="0" i="0" u="none">
                <a:solidFill>
                  <a:srgbClr val="0F172A"/>
                </a:solidFill>
                <a:latin typeface="Poppins ExtraBold"/>
              </a:rPr>
              <a:t>MAXIMIZING </a:t>
            </a:r>
            <a:r>
              <a:t>
</a:t>
            </a:r>
            <a:r>
              <a:rPr sz="3750" b="0" i="0" u="none">
                <a:solidFill>
                  <a:srgbClr val="0F172A"/>
                </a:solidFill>
                <a:latin typeface="Poppins ExtraBold"/>
              </a:rPr>
              <a:t> REVENUE FOR </a:t>
            </a:r>
            <a:r>
              <a:t>
</a:t>
            </a:r>
            <a:r>
              <a:rPr sz="3750" b="0" i="0" u="none">
                <a:solidFill>
                  <a:srgbClr val="0F172A"/>
                </a:solidFill>
                <a:latin typeface="Poppins ExtraBold"/>
              </a:rPr>
              <a:t> DRIVERS</a:t>
            </a:r>
          </a:p>
        </p:txBody>
      </p:sp>
      <p:sp>
        <p:nvSpPr>
          <p:cNvPr id="9" name="TextBox 8"/>
          <p:cNvSpPr txBox="1"/>
          <p:nvPr/>
        </p:nvSpPr>
        <p:spPr>
          <a:xfrm>
            <a:off x="533400" y="4114502"/>
            <a:ext cx="6007596" cy="226665"/>
          </a:xfrm>
          <a:prstGeom prst="rect">
            <a:avLst/>
          </a:prstGeom>
          <a:noFill/>
        </p:spPr>
        <p:txBody>
          <a:bodyPr wrap="square" lIns="0" tIns="0" rIns="0" bIns="0" anchor="t">
            <a:spAutoFit/>
          </a:bodyPr>
          <a:lstStyle/>
          <a:p>
            <a:pPr algn="l">
              <a:lnSpc>
                <a:spcPts val="1785"/>
              </a:lnSpc>
            </a:pPr>
            <a:r>
              <a:rPr sz="1275" b="0" i="0" u="none">
                <a:solidFill>
                  <a:srgbClr val="475569"/>
                </a:solidFill>
                <a:latin typeface="Inter Medium"/>
              </a:rPr>
              <a:t>Optimizing Fare Pricing &amp; Trip Distances via Payment Method Analysis</a:t>
            </a:r>
          </a:p>
        </p:txBody>
      </p:sp>
      <p:pic>
        <p:nvPicPr>
          <p:cNvPr id="10" name="Picture 9" descr="image.png"/>
          <p:cNvPicPr>
            <a:picLocks noChangeAspect="1"/>
          </p:cNvPicPr>
          <p:nvPr/>
        </p:nvPicPr>
        <p:blipFill>
          <a:blip r:embed="rId6"/>
          <a:stretch>
            <a:fillRect/>
          </a:stretch>
        </p:blipFill>
        <p:spPr>
          <a:xfrm>
            <a:off x="6941046" y="1019175"/>
            <a:ext cx="5079355" cy="4819650"/>
          </a:xfrm>
          <a:prstGeom prst="rect">
            <a:avLst/>
          </a:prstGeom>
        </p:spPr>
      </p:pic>
      <p:pic>
        <p:nvPicPr>
          <p:cNvPr id="11" name="Picture 10" descr="image.png"/>
          <p:cNvPicPr>
            <a:picLocks noChangeAspect="1"/>
          </p:cNvPicPr>
          <p:nvPr/>
        </p:nvPicPr>
        <p:blipFill>
          <a:blip r:embed="rId7"/>
          <a:stretch>
            <a:fillRect/>
          </a:stretch>
        </p:blipFill>
        <p:spPr>
          <a:xfrm>
            <a:off x="533400" y="3495377"/>
            <a:ext cx="1895475" cy="352425"/>
          </a:xfrm>
          <a:prstGeom prst="rect">
            <a:avLst/>
          </a:prstGeom>
        </p:spPr>
      </p:pic>
      <p:sp>
        <p:nvSpPr>
          <p:cNvPr id="12" name="TextBox 11"/>
          <p:cNvSpPr txBox="1"/>
          <p:nvPr/>
        </p:nvSpPr>
        <p:spPr>
          <a:xfrm>
            <a:off x="723900" y="4636442"/>
            <a:ext cx="5655171" cy="171450"/>
          </a:xfrm>
          <a:prstGeom prst="rect">
            <a:avLst/>
          </a:prstGeom>
          <a:noFill/>
        </p:spPr>
        <p:txBody>
          <a:bodyPr wrap="square" lIns="0" tIns="0" rIns="0" bIns="0" anchor="t">
            <a:spAutoFit/>
          </a:bodyPr>
          <a:lstStyle/>
          <a:p>
            <a:pPr algn="l">
              <a:lnSpc>
                <a:spcPts val="1350"/>
              </a:lnSpc>
            </a:pPr>
            <a:r>
              <a:rPr sz="900" b="0" i="0" u="none">
                <a:solidFill>
                  <a:srgbClr val="64748B"/>
                </a:solidFill>
                <a:latin typeface="Inter"/>
              </a:rPr>
              <a:t>DATASET CONTEXT</a:t>
            </a:r>
          </a:p>
        </p:txBody>
      </p:sp>
      <p:sp>
        <p:nvSpPr>
          <p:cNvPr id="13" name="TextBox 12"/>
          <p:cNvSpPr txBox="1"/>
          <p:nvPr/>
        </p:nvSpPr>
        <p:spPr>
          <a:xfrm>
            <a:off x="723900" y="4826942"/>
            <a:ext cx="5655171" cy="192881"/>
          </a:xfrm>
          <a:prstGeom prst="rect">
            <a:avLst/>
          </a:prstGeom>
          <a:noFill/>
        </p:spPr>
        <p:txBody>
          <a:bodyPr wrap="square" lIns="0" tIns="0" rIns="0" bIns="0" anchor="t">
            <a:spAutoFit/>
          </a:bodyPr>
          <a:lstStyle/>
          <a:p>
            <a:pPr algn="l">
              <a:lnSpc>
                <a:spcPts val="1518"/>
              </a:lnSpc>
            </a:pPr>
            <a:r>
              <a:rPr sz="1012" b="0" i="0" u="none">
                <a:solidFill>
                  <a:srgbClr val="0F172A"/>
                </a:solidFill>
                <a:latin typeface="Inter SemiBold"/>
              </a:rPr>
              <a:t>NYC Taxi and Limousine Commission (TLC) Trip Records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2535584"/>
            <a:ext cx="11125200" cy="2403871"/>
          </a:xfrm>
          <a:prstGeom prst="rect">
            <a:avLst/>
          </a:prstGeom>
        </p:spPr>
      </p:pic>
      <p:pic>
        <p:nvPicPr>
          <p:cNvPr id="4" name="Picture 3" descr="image.png"/>
          <p:cNvPicPr>
            <a:picLocks noChangeAspect="1"/>
          </p:cNvPicPr>
          <p:nvPr/>
        </p:nvPicPr>
        <p:blipFill>
          <a:blip r:embed="rId4"/>
          <a:stretch>
            <a:fillRect/>
          </a:stretch>
        </p:blipFill>
        <p:spPr>
          <a:xfrm>
            <a:off x="533400" y="6367462"/>
            <a:ext cx="11125200" cy="300037"/>
          </a:xfrm>
          <a:prstGeom prst="rect">
            <a:avLst/>
          </a:prstGeom>
        </p:spPr>
      </p:pic>
      <p:sp>
        <p:nvSpPr>
          <p:cNvPr id="5" name="TextBox 4"/>
          <p:cNvSpPr txBox="1"/>
          <p:nvPr/>
        </p:nvSpPr>
        <p:spPr>
          <a:xfrm>
            <a:off x="533400" y="6453187"/>
            <a:ext cx="1752600"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Executive Project Agenda</a:t>
            </a:r>
          </a:p>
        </p:txBody>
      </p:sp>
      <p:sp>
        <p:nvSpPr>
          <p:cNvPr id="6" name="TextBox 5"/>
          <p:cNvSpPr txBox="1"/>
          <p:nvPr/>
        </p:nvSpPr>
        <p:spPr>
          <a:xfrm>
            <a:off x="10953750" y="6453187"/>
            <a:ext cx="704850"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Slide 2 / 11</a:t>
            </a:r>
          </a:p>
        </p:txBody>
      </p:sp>
      <p:sp>
        <p:nvSpPr>
          <p:cNvPr id="7" name="TextBox 6"/>
          <p:cNvSpPr txBox="1"/>
          <p:nvPr/>
        </p:nvSpPr>
        <p:spPr>
          <a:xfrm>
            <a:off x="1190625" y="2926109"/>
            <a:ext cx="4714875" cy="248542"/>
          </a:xfrm>
          <a:prstGeom prst="rect">
            <a:avLst/>
          </a:prstGeom>
          <a:noFill/>
        </p:spPr>
        <p:txBody>
          <a:bodyPr wrap="square" lIns="0" tIns="0" rIns="0" bIns="0" anchor="t">
            <a:spAutoFit/>
          </a:bodyPr>
          <a:lstStyle/>
          <a:p>
            <a:pPr algn="l">
              <a:lnSpc>
                <a:spcPts val="1957"/>
              </a:lnSpc>
            </a:pPr>
            <a:r>
              <a:rPr sz="1350" b="0" i="0" u="none">
                <a:solidFill>
                  <a:srgbClr val="0F172A"/>
                </a:solidFill>
                <a:latin typeface="Inter SemiBold"/>
              </a:rPr>
              <a:t>Problem Statement</a:t>
            </a:r>
          </a:p>
        </p:txBody>
      </p:sp>
      <p:sp>
        <p:nvSpPr>
          <p:cNvPr id="8" name="TextBox 7"/>
          <p:cNvSpPr txBox="1"/>
          <p:nvPr/>
        </p:nvSpPr>
        <p:spPr>
          <a:xfrm>
            <a:off x="1190625" y="3384202"/>
            <a:ext cx="4714875" cy="248542"/>
          </a:xfrm>
          <a:prstGeom prst="rect">
            <a:avLst/>
          </a:prstGeom>
          <a:noFill/>
        </p:spPr>
        <p:txBody>
          <a:bodyPr wrap="square" lIns="0" tIns="0" rIns="0" bIns="0" anchor="t">
            <a:spAutoFit/>
          </a:bodyPr>
          <a:lstStyle/>
          <a:p>
            <a:pPr algn="l">
              <a:lnSpc>
                <a:spcPts val="1957"/>
              </a:lnSpc>
            </a:pPr>
            <a:r>
              <a:rPr sz="1350" b="0" i="0" u="none">
                <a:solidFill>
                  <a:srgbClr val="0F172A"/>
                </a:solidFill>
                <a:latin typeface="Inter SemiBold"/>
              </a:rPr>
              <a:t>Research Question</a:t>
            </a:r>
          </a:p>
        </p:txBody>
      </p:sp>
      <p:sp>
        <p:nvSpPr>
          <p:cNvPr id="9" name="TextBox 8"/>
          <p:cNvSpPr txBox="1"/>
          <p:nvPr/>
        </p:nvSpPr>
        <p:spPr>
          <a:xfrm>
            <a:off x="1190625" y="3842295"/>
            <a:ext cx="4714875" cy="248542"/>
          </a:xfrm>
          <a:prstGeom prst="rect">
            <a:avLst/>
          </a:prstGeom>
          <a:noFill/>
        </p:spPr>
        <p:txBody>
          <a:bodyPr wrap="square" lIns="0" tIns="0" rIns="0" bIns="0" anchor="t">
            <a:spAutoFit/>
          </a:bodyPr>
          <a:lstStyle/>
          <a:p>
            <a:pPr algn="l">
              <a:lnSpc>
                <a:spcPts val="1957"/>
              </a:lnSpc>
            </a:pPr>
            <a:r>
              <a:rPr sz="1350" b="0" i="0" u="none">
                <a:solidFill>
                  <a:srgbClr val="0F172A"/>
                </a:solidFill>
                <a:latin typeface="Inter SemiBold"/>
              </a:rPr>
              <a:t>Data Overview</a:t>
            </a:r>
          </a:p>
        </p:txBody>
      </p:sp>
      <p:sp>
        <p:nvSpPr>
          <p:cNvPr id="10" name="TextBox 9"/>
          <p:cNvSpPr txBox="1"/>
          <p:nvPr/>
        </p:nvSpPr>
        <p:spPr>
          <a:xfrm>
            <a:off x="1190625" y="4300388"/>
            <a:ext cx="4714875" cy="248542"/>
          </a:xfrm>
          <a:prstGeom prst="rect">
            <a:avLst/>
          </a:prstGeom>
          <a:noFill/>
        </p:spPr>
        <p:txBody>
          <a:bodyPr wrap="square" lIns="0" tIns="0" rIns="0" bIns="0" anchor="t">
            <a:spAutoFit/>
          </a:bodyPr>
          <a:lstStyle/>
          <a:p>
            <a:pPr algn="l">
              <a:lnSpc>
                <a:spcPts val="1957"/>
              </a:lnSpc>
            </a:pPr>
            <a:r>
              <a:rPr sz="1350" b="0" i="0" u="none">
                <a:solidFill>
                  <a:srgbClr val="0F172A"/>
                </a:solidFill>
                <a:latin typeface="Inter SemiBold"/>
              </a:rPr>
              <a:t>Methodology</a:t>
            </a:r>
          </a:p>
        </p:txBody>
      </p:sp>
      <p:sp>
        <p:nvSpPr>
          <p:cNvPr id="11" name="TextBox 10"/>
          <p:cNvSpPr txBox="1"/>
          <p:nvPr/>
        </p:nvSpPr>
        <p:spPr>
          <a:xfrm>
            <a:off x="6553200" y="2926109"/>
            <a:ext cx="4714875" cy="248542"/>
          </a:xfrm>
          <a:prstGeom prst="rect">
            <a:avLst/>
          </a:prstGeom>
          <a:noFill/>
        </p:spPr>
        <p:txBody>
          <a:bodyPr wrap="square" lIns="0" tIns="0" rIns="0" bIns="0" anchor="t">
            <a:spAutoFit/>
          </a:bodyPr>
          <a:lstStyle/>
          <a:p>
            <a:pPr algn="l">
              <a:lnSpc>
                <a:spcPts val="1957"/>
              </a:lnSpc>
            </a:pPr>
            <a:r>
              <a:rPr sz="1350" b="0" i="0" u="none">
                <a:solidFill>
                  <a:srgbClr val="0F172A"/>
                </a:solidFill>
                <a:latin typeface="Inter SemiBold"/>
              </a:rPr>
              <a:t>Analysis and Findings</a:t>
            </a:r>
          </a:p>
        </p:txBody>
      </p:sp>
      <p:sp>
        <p:nvSpPr>
          <p:cNvPr id="12" name="TextBox 11"/>
          <p:cNvSpPr txBox="1"/>
          <p:nvPr/>
        </p:nvSpPr>
        <p:spPr>
          <a:xfrm>
            <a:off x="6553200" y="3384202"/>
            <a:ext cx="4714875" cy="248542"/>
          </a:xfrm>
          <a:prstGeom prst="rect">
            <a:avLst/>
          </a:prstGeom>
          <a:noFill/>
        </p:spPr>
        <p:txBody>
          <a:bodyPr wrap="square" lIns="0" tIns="0" rIns="0" bIns="0" anchor="t">
            <a:spAutoFit/>
          </a:bodyPr>
          <a:lstStyle/>
          <a:p>
            <a:pPr algn="l">
              <a:lnSpc>
                <a:spcPts val="1957"/>
              </a:lnSpc>
            </a:pPr>
            <a:r>
              <a:rPr sz="1350" b="0" i="0" u="none">
                <a:solidFill>
                  <a:srgbClr val="0F172A"/>
                </a:solidFill>
                <a:latin typeface="Inter SemiBold"/>
              </a:rPr>
              <a:t>Hypothesis Testing</a:t>
            </a:r>
          </a:p>
        </p:txBody>
      </p:sp>
      <p:sp>
        <p:nvSpPr>
          <p:cNvPr id="13" name="TextBox 12"/>
          <p:cNvSpPr txBox="1"/>
          <p:nvPr/>
        </p:nvSpPr>
        <p:spPr>
          <a:xfrm>
            <a:off x="6553200" y="3842295"/>
            <a:ext cx="4714875" cy="248542"/>
          </a:xfrm>
          <a:prstGeom prst="rect">
            <a:avLst/>
          </a:prstGeom>
          <a:noFill/>
        </p:spPr>
        <p:txBody>
          <a:bodyPr wrap="square" lIns="0" tIns="0" rIns="0" bIns="0" anchor="t">
            <a:spAutoFit/>
          </a:bodyPr>
          <a:lstStyle/>
          <a:p>
            <a:pPr algn="l">
              <a:lnSpc>
                <a:spcPts val="1957"/>
              </a:lnSpc>
            </a:pPr>
            <a:r>
              <a:rPr sz="1350" b="0" i="0" u="none">
                <a:solidFill>
                  <a:srgbClr val="0F172A"/>
                </a:solidFill>
                <a:latin typeface="Inter SemiBold"/>
              </a:rPr>
              <a:t>Recommendations</a:t>
            </a:r>
          </a:p>
        </p:txBody>
      </p:sp>
      <p:sp>
        <p:nvSpPr>
          <p:cNvPr id="14" name="TextBox 13"/>
          <p:cNvSpPr txBox="1"/>
          <p:nvPr/>
        </p:nvSpPr>
        <p:spPr>
          <a:xfrm>
            <a:off x="1000125" y="2907059"/>
            <a:ext cx="95250" cy="304800"/>
          </a:xfrm>
          <a:prstGeom prst="rect">
            <a:avLst/>
          </a:prstGeom>
          <a:noFill/>
        </p:spPr>
        <p:txBody>
          <a:bodyPr wrap="square" lIns="0" tIns="0" rIns="0" bIns="0" anchor="t">
            <a:spAutoFit/>
          </a:bodyPr>
          <a:lstStyle/>
          <a:p>
            <a:pPr algn="l">
              <a:lnSpc>
                <a:spcPts val="2392"/>
              </a:lnSpc>
            </a:pPr>
            <a:r>
              <a:rPr sz="1650" b="1" i="0" u="none">
                <a:solidFill>
                  <a:srgbClr val="FA643F"/>
                </a:solidFill>
                <a:latin typeface="Inter"/>
              </a:rPr>
              <a:t>•</a:t>
            </a:r>
          </a:p>
        </p:txBody>
      </p:sp>
      <p:sp>
        <p:nvSpPr>
          <p:cNvPr id="15" name="TextBox 14"/>
          <p:cNvSpPr txBox="1"/>
          <p:nvPr/>
        </p:nvSpPr>
        <p:spPr>
          <a:xfrm>
            <a:off x="1000125" y="3365152"/>
            <a:ext cx="95250" cy="304800"/>
          </a:xfrm>
          <a:prstGeom prst="rect">
            <a:avLst/>
          </a:prstGeom>
          <a:noFill/>
        </p:spPr>
        <p:txBody>
          <a:bodyPr wrap="square" lIns="0" tIns="0" rIns="0" bIns="0" anchor="t">
            <a:spAutoFit/>
          </a:bodyPr>
          <a:lstStyle/>
          <a:p>
            <a:pPr algn="l">
              <a:lnSpc>
                <a:spcPts val="2392"/>
              </a:lnSpc>
            </a:pPr>
            <a:r>
              <a:rPr sz="1650" b="1" i="0" u="none">
                <a:solidFill>
                  <a:srgbClr val="FA643F"/>
                </a:solidFill>
                <a:latin typeface="Inter"/>
              </a:rPr>
              <a:t>•</a:t>
            </a:r>
          </a:p>
        </p:txBody>
      </p:sp>
      <p:sp>
        <p:nvSpPr>
          <p:cNvPr id="16" name="TextBox 15"/>
          <p:cNvSpPr txBox="1"/>
          <p:nvPr/>
        </p:nvSpPr>
        <p:spPr>
          <a:xfrm>
            <a:off x="1000125" y="3823245"/>
            <a:ext cx="95250" cy="304800"/>
          </a:xfrm>
          <a:prstGeom prst="rect">
            <a:avLst/>
          </a:prstGeom>
          <a:noFill/>
        </p:spPr>
        <p:txBody>
          <a:bodyPr wrap="square" lIns="0" tIns="0" rIns="0" bIns="0" anchor="t">
            <a:spAutoFit/>
          </a:bodyPr>
          <a:lstStyle/>
          <a:p>
            <a:pPr algn="l">
              <a:lnSpc>
                <a:spcPts val="2392"/>
              </a:lnSpc>
            </a:pPr>
            <a:r>
              <a:rPr sz="1650" b="1" i="0" u="none">
                <a:solidFill>
                  <a:srgbClr val="FA643F"/>
                </a:solidFill>
                <a:latin typeface="Inter"/>
              </a:rPr>
              <a:t>•</a:t>
            </a:r>
          </a:p>
        </p:txBody>
      </p:sp>
      <p:sp>
        <p:nvSpPr>
          <p:cNvPr id="17" name="TextBox 16"/>
          <p:cNvSpPr txBox="1"/>
          <p:nvPr/>
        </p:nvSpPr>
        <p:spPr>
          <a:xfrm>
            <a:off x="1000125" y="4281338"/>
            <a:ext cx="95250" cy="304800"/>
          </a:xfrm>
          <a:prstGeom prst="rect">
            <a:avLst/>
          </a:prstGeom>
          <a:noFill/>
        </p:spPr>
        <p:txBody>
          <a:bodyPr wrap="square" lIns="0" tIns="0" rIns="0" bIns="0" anchor="t">
            <a:spAutoFit/>
          </a:bodyPr>
          <a:lstStyle/>
          <a:p>
            <a:pPr algn="l">
              <a:lnSpc>
                <a:spcPts val="2392"/>
              </a:lnSpc>
            </a:pPr>
            <a:r>
              <a:rPr sz="1650" b="1" i="0" u="none">
                <a:solidFill>
                  <a:srgbClr val="FA643F"/>
                </a:solidFill>
                <a:latin typeface="Inter"/>
              </a:rPr>
              <a:t>•</a:t>
            </a:r>
          </a:p>
        </p:txBody>
      </p:sp>
      <p:sp>
        <p:nvSpPr>
          <p:cNvPr id="18" name="TextBox 17"/>
          <p:cNvSpPr txBox="1"/>
          <p:nvPr/>
        </p:nvSpPr>
        <p:spPr>
          <a:xfrm>
            <a:off x="6362700" y="2907059"/>
            <a:ext cx="95250" cy="304800"/>
          </a:xfrm>
          <a:prstGeom prst="rect">
            <a:avLst/>
          </a:prstGeom>
          <a:noFill/>
        </p:spPr>
        <p:txBody>
          <a:bodyPr wrap="square" lIns="0" tIns="0" rIns="0" bIns="0" anchor="t">
            <a:spAutoFit/>
          </a:bodyPr>
          <a:lstStyle/>
          <a:p>
            <a:pPr algn="l">
              <a:lnSpc>
                <a:spcPts val="2392"/>
              </a:lnSpc>
            </a:pPr>
            <a:r>
              <a:rPr sz="1650" b="1" i="0" u="none">
                <a:solidFill>
                  <a:srgbClr val="FA643F"/>
                </a:solidFill>
                <a:latin typeface="Inter"/>
              </a:rPr>
              <a:t>•</a:t>
            </a:r>
          </a:p>
        </p:txBody>
      </p:sp>
      <p:sp>
        <p:nvSpPr>
          <p:cNvPr id="19" name="TextBox 18"/>
          <p:cNvSpPr txBox="1"/>
          <p:nvPr/>
        </p:nvSpPr>
        <p:spPr>
          <a:xfrm>
            <a:off x="6362700" y="3365152"/>
            <a:ext cx="95250" cy="304800"/>
          </a:xfrm>
          <a:prstGeom prst="rect">
            <a:avLst/>
          </a:prstGeom>
          <a:noFill/>
        </p:spPr>
        <p:txBody>
          <a:bodyPr wrap="square" lIns="0" tIns="0" rIns="0" bIns="0" anchor="t">
            <a:spAutoFit/>
          </a:bodyPr>
          <a:lstStyle/>
          <a:p>
            <a:pPr algn="l">
              <a:lnSpc>
                <a:spcPts val="2392"/>
              </a:lnSpc>
            </a:pPr>
            <a:r>
              <a:rPr sz="1650" b="1" i="0" u="none">
                <a:solidFill>
                  <a:srgbClr val="FA643F"/>
                </a:solidFill>
                <a:latin typeface="Inter"/>
              </a:rPr>
              <a:t>•</a:t>
            </a:r>
          </a:p>
        </p:txBody>
      </p:sp>
      <p:sp>
        <p:nvSpPr>
          <p:cNvPr id="20" name="TextBox 19"/>
          <p:cNvSpPr txBox="1"/>
          <p:nvPr/>
        </p:nvSpPr>
        <p:spPr>
          <a:xfrm>
            <a:off x="6362700" y="3823245"/>
            <a:ext cx="95250" cy="304800"/>
          </a:xfrm>
          <a:prstGeom prst="rect">
            <a:avLst/>
          </a:prstGeom>
          <a:noFill/>
        </p:spPr>
        <p:txBody>
          <a:bodyPr wrap="square" lIns="0" tIns="0" rIns="0" bIns="0" anchor="t">
            <a:spAutoFit/>
          </a:bodyPr>
          <a:lstStyle/>
          <a:p>
            <a:pPr algn="l">
              <a:lnSpc>
                <a:spcPts val="2392"/>
              </a:lnSpc>
            </a:pPr>
            <a:r>
              <a:rPr sz="1650" b="1" i="0" u="none">
                <a:solidFill>
                  <a:srgbClr val="FA643F"/>
                </a:solidFill>
                <a:latin typeface="Inter"/>
              </a:rPr>
              <a:t>•</a:t>
            </a:r>
          </a:p>
        </p:txBody>
      </p:sp>
      <p:sp>
        <p:nvSpPr>
          <p:cNvPr id="21" name="TextBox 20"/>
          <p:cNvSpPr txBox="1"/>
          <p:nvPr/>
        </p:nvSpPr>
        <p:spPr>
          <a:xfrm>
            <a:off x="533400" y="419100"/>
            <a:ext cx="11658600" cy="388590"/>
          </a:xfrm>
          <a:prstGeom prst="rect">
            <a:avLst/>
          </a:prstGeom>
          <a:noFill/>
        </p:spPr>
        <p:txBody>
          <a:bodyPr wrap="square" lIns="0" tIns="0" rIns="0" bIns="0" anchor="t">
            <a:spAutoFit/>
          </a:bodyPr>
          <a:lstStyle/>
          <a:p>
            <a:pPr algn="l">
              <a:lnSpc>
                <a:spcPts val="3060"/>
              </a:lnSpc>
            </a:pPr>
            <a:r>
              <a:rPr sz="2550" b="1" i="0" u="none" dirty="0">
                <a:solidFill>
                  <a:srgbClr val="0F172A"/>
                </a:solidFill>
                <a:latin typeface="Poppins"/>
              </a:rPr>
              <a:t>Agenda</a:t>
            </a:r>
          </a:p>
        </p:txBody>
      </p:sp>
      <p:sp>
        <p:nvSpPr>
          <p:cNvPr id="22" name="Rounded Rectangle 21"/>
          <p:cNvSpPr/>
          <p:nvPr/>
        </p:nvSpPr>
        <p:spPr>
          <a:xfrm>
            <a:off x="5791200" y="594345"/>
            <a:ext cx="609600" cy="38100"/>
          </a:xfrm>
          <a:prstGeom prst="roundRect">
            <a:avLst>
              <a:gd name="adj" fmla="val 50000"/>
            </a:avLst>
          </a:prstGeom>
          <a:solidFill>
            <a:srgbClr val="FA64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7328892" y="1737270"/>
            <a:ext cx="4672458" cy="4000500"/>
          </a:xfrm>
          <a:prstGeom prst="rect">
            <a:avLst/>
          </a:prstGeom>
        </p:spPr>
      </p:pic>
      <p:pic>
        <p:nvPicPr>
          <p:cNvPr id="4" name="Picture 3" descr="image.png"/>
          <p:cNvPicPr>
            <a:picLocks noChangeAspect="1"/>
          </p:cNvPicPr>
          <p:nvPr/>
        </p:nvPicPr>
        <p:blipFill>
          <a:blip r:embed="rId4"/>
          <a:stretch>
            <a:fillRect/>
          </a:stretch>
        </p:blipFill>
        <p:spPr>
          <a:xfrm>
            <a:off x="533400" y="2425154"/>
            <a:ext cx="6452592" cy="956071"/>
          </a:xfrm>
          <a:prstGeom prst="rect">
            <a:avLst/>
          </a:prstGeom>
        </p:spPr>
      </p:pic>
      <p:pic>
        <p:nvPicPr>
          <p:cNvPr id="5" name="Picture 4" descr="image.png"/>
          <p:cNvPicPr>
            <a:picLocks noChangeAspect="1"/>
          </p:cNvPicPr>
          <p:nvPr/>
        </p:nvPicPr>
        <p:blipFill>
          <a:blip r:embed="rId5"/>
          <a:stretch>
            <a:fillRect/>
          </a:stretch>
        </p:blipFill>
        <p:spPr>
          <a:xfrm>
            <a:off x="533400" y="3571726"/>
            <a:ext cx="6452592" cy="1478160"/>
          </a:xfrm>
          <a:prstGeom prst="rect">
            <a:avLst/>
          </a:prstGeom>
        </p:spPr>
      </p:pic>
      <p:pic>
        <p:nvPicPr>
          <p:cNvPr id="6" name="Picture 5" descr="image.png"/>
          <p:cNvPicPr>
            <a:picLocks noChangeAspect="1"/>
          </p:cNvPicPr>
          <p:nvPr/>
        </p:nvPicPr>
        <p:blipFill>
          <a:blip r:embed="rId6"/>
          <a:stretch>
            <a:fillRect/>
          </a:stretch>
        </p:blipFill>
        <p:spPr>
          <a:xfrm>
            <a:off x="533400" y="6367462"/>
            <a:ext cx="11125200" cy="300037"/>
          </a:xfrm>
          <a:prstGeom prst="rect">
            <a:avLst/>
          </a:prstGeom>
        </p:spPr>
      </p:pic>
      <p:sp>
        <p:nvSpPr>
          <p:cNvPr id="7" name="TextBox 6"/>
          <p:cNvSpPr txBox="1"/>
          <p:nvPr/>
        </p:nvSpPr>
        <p:spPr>
          <a:xfrm>
            <a:off x="533400" y="6453187"/>
            <a:ext cx="2162175"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Commercial Problem Statement</a:t>
            </a:r>
          </a:p>
        </p:txBody>
      </p:sp>
      <p:sp>
        <p:nvSpPr>
          <p:cNvPr id="8" name="TextBox 7"/>
          <p:cNvSpPr txBox="1"/>
          <p:nvPr/>
        </p:nvSpPr>
        <p:spPr>
          <a:xfrm>
            <a:off x="10953750" y="6453187"/>
            <a:ext cx="704850"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Slide 3 / 11</a:t>
            </a:r>
          </a:p>
        </p:txBody>
      </p:sp>
      <p:pic>
        <p:nvPicPr>
          <p:cNvPr id="9" name="Picture 8" descr="image.png"/>
          <p:cNvPicPr>
            <a:picLocks noChangeAspect="1"/>
          </p:cNvPicPr>
          <p:nvPr/>
        </p:nvPicPr>
        <p:blipFill>
          <a:blip r:embed="rId7"/>
          <a:stretch>
            <a:fillRect/>
          </a:stretch>
        </p:blipFill>
        <p:spPr>
          <a:xfrm>
            <a:off x="7338417" y="1746795"/>
            <a:ext cx="4653408" cy="3981450"/>
          </a:xfrm>
          <a:prstGeom prst="rect">
            <a:avLst/>
          </a:prstGeom>
        </p:spPr>
      </p:pic>
      <p:sp>
        <p:nvSpPr>
          <p:cNvPr id="10" name="TextBox 9"/>
          <p:cNvSpPr txBox="1"/>
          <p:nvPr/>
        </p:nvSpPr>
        <p:spPr>
          <a:xfrm>
            <a:off x="781050" y="2644229"/>
            <a:ext cx="5985867" cy="517921"/>
          </a:xfrm>
          <a:prstGeom prst="rect">
            <a:avLst/>
          </a:prstGeom>
          <a:noFill/>
        </p:spPr>
        <p:txBody>
          <a:bodyPr wrap="square" lIns="0" tIns="0" rIns="0" bIns="0" anchor="t">
            <a:spAutoFit/>
          </a:bodyPr>
          <a:lstStyle/>
          <a:p>
            <a:pPr algn="l">
              <a:lnSpc>
                <a:spcPts val="2039"/>
              </a:lnSpc>
            </a:pPr>
            <a:r>
              <a:rPr sz="1275" b="0" i="0" u="none">
                <a:solidFill>
                  <a:srgbClr val="1E293B"/>
                </a:solidFill>
                <a:latin typeface="Inter"/>
              </a:rPr>
              <a:t>In the fast-paced taxi booking sector, making the most of revenue is essential for </a:t>
            </a:r>
            <a:r>
              <a:rPr sz="1275" b="1" i="0" u="none">
                <a:solidFill>
                  <a:srgbClr val="1E293B"/>
                </a:solidFill>
                <a:latin typeface="Inter"/>
              </a:rPr>
              <a:t>long-term success and driver happiness</a:t>
            </a:r>
            <a:r>
              <a:rPr sz="1275" b="0" i="0" u="none">
                <a:solidFill>
                  <a:srgbClr val="1E293B"/>
                </a:solidFill>
                <a:latin typeface="Inter"/>
              </a:rPr>
              <a:t>.</a:t>
            </a:r>
          </a:p>
        </p:txBody>
      </p:sp>
      <p:sp>
        <p:nvSpPr>
          <p:cNvPr id="11" name="TextBox 10"/>
          <p:cNvSpPr txBox="1"/>
          <p:nvPr/>
        </p:nvSpPr>
        <p:spPr>
          <a:xfrm>
            <a:off x="781050" y="3790801"/>
            <a:ext cx="5985867" cy="487560"/>
          </a:xfrm>
          <a:prstGeom prst="rect">
            <a:avLst/>
          </a:prstGeom>
          <a:noFill/>
        </p:spPr>
        <p:txBody>
          <a:bodyPr wrap="square" lIns="0" tIns="0" rIns="0" bIns="0" anchor="t">
            <a:spAutoFit/>
          </a:bodyPr>
          <a:lstStyle/>
          <a:p>
            <a:pPr algn="l">
              <a:lnSpc>
                <a:spcPts val="1920"/>
              </a:lnSpc>
            </a:pPr>
            <a:r>
              <a:rPr sz="1200" b="0" i="0" u="none">
                <a:solidFill>
                  <a:srgbClr val="1E293B"/>
                </a:solidFill>
                <a:latin typeface="Inter"/>
              </a:rPr>
              <a:t>Our goal is to use data-driven insights to </a:t>
            </a:r>
            <a:r>
              <a:rPr sz="1200" b="1" i="0" u="none">
                <a:solidFill>
                  <a:srgbClr val="1E293B"/>
                </a:solidFill>
                <a:latin typeface="Inter"/>
              </a:rPr>
              <a:t>maximise revenue streams</a:t>
            </a:r>
            <a:r>
              <a:rPr sz="1200" b="0" i="0" u="none">
                <a:solidFill>
                  <a:srgbClr val="1E293B"/>
                </a:solidFill>
                <a:latin typeface="Inter"/>
              </a:rPr>
              <a:t> for taxi drivers in order to meet this need.</a:t>
            </a:r>
          </a:p>
        </p:txBody>
      </p:sp>
      <p:sp>
        <p:nvSpPr>
          <p:cNvPr id="12" name="TextBox 11"/>
          <p:cNvSpPr txBox="1"/>
          <p:nvPr/>
        </p:nvSpPr>
        <p:spPr>
          <a:xfrm>
            <a:off x="781050" y="4373612"/>
            <a:ext cx="5985867" cy="457200"/>
          </a:xfrm>
          <a:prstGeom prst="rect">
            <a:avLst/>
          </a:prstGeom>
          <a:noFill/>
        </p:spPr>
        <p:txBody>
          <a:bodyPr wrap="square" lIns="0" tIns="0" rIns="0" bIns="0" anchor="t">
            <a:spAutoFit/>
          </a:bodyPr>
          <a:lstStyle/>
          <a:p>
            <a:pPr algn="l">
              <a:lnSpc>
                <a:spcPts val="1800"/>
              </a:lnSpc>
            </a:pPr>
            <a:r>
              <a:rPr sz="1125" b="0" i="0" u="none">
                <a:solidFill>
                  <a:srgbClr val="475569"/>
                </a:solidFill>
                <a:latin typeface="Inter"/>
              </a:rPr>
              <a:t>Our research aims to determine whether payment methods have an impact on fare pricing by focusing on the relationship between payment type and fare amount.</a:t>
            </a:r>
          </a:p>
        </p:txBody>
      </p:sp>
      <p:sp>
        <p:nvSpPr>
          <p:cNvPr id="13" name="TextBox 12"/>
          <p:cNvSpPr txBox="1"/>
          <p:nvPr/>
        </p:nvSpPr>
        <p:spPr>
          <a:xfrm>
            <a:off x="533400" y="419100"/>
            <a:ext cx="11658600" cy="388590"/>
          </a:xfrm>
          <a:prstGeom prst="rect">
            <a:avLst/>
          </a:prstGeom>
          <a:noFill/>
        </p:spPr>
        <p:txBody>
          <a:bodyPr wrap="square" lIns="0" tIns="0" rIns="0" bIns="0" anchor="t">
            <a:spAutoFit/>
          </a:bodyPr>
          <a:lstStyle/>
          <a:p>
            <a:pPr algn="l">
              <a:lnSpc>
                <a:spcPts val="3060"/>
              </a:lnSpc>
            </a:pPr>
            <a:r>
              <a:rPr sz="2550" b="1" i="0" u="none">
                <a:solidFill>
                  <a:srgbClr val="0F172A"/>
                </a:solidFill>
                <a:latin typeface="Poppins"/>
              </a:rPr>
              <a:t>Problem Statement</a:t>
            </a:r>
          </a:p>
        </p:txBody>
      </p:sp>
      <p:sp>
        <p:nvSpPr>
          <p:cNvPr id="14" name="Rounded Rectangle 13"/>
          <p:cNvSpPr/>
          <p:nvPr/>
        </p:nvSpPr>
        <p:spPr>
          <a:xfrm>
            <a:off x="5791200" y="594345"/>
            <a:ext cx="609600" cy="38100"/>
          </a:xfrm>
          <a:prstGeom prst="roundRect">
            <a:avLst>
              <a:gd name="adj" fmla="val 50000"/>
            </a:avLst>
          </a:prstGeom>
          <a:solidFill>
            <a:srgbClr val="FA64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2426940"/>
            <a:ext cx="11125200" cy="1548705"/>
          </a:xfrm>
          <a:prstGeom prst="rect">
            <a:avLst/>
          </a:prstGeom>
        </p:spPr>
      </p:pic>
      <p:pic>
        <p:nvPicPr>
          <p:cNvPr id="4" name="Picture 3" descr="image.png"/>
          <p:cNvPicPr>
            <a:picLocks noChangeAspect="1"/>
          </p:cNvPicPr>
          <p:nvPr/>
        </p:nvPicPr>
        <p:blipFill>
          <a:blip r:embed="rId4"/>
          <a:stretch>
            <a:fillRect/>
          </a:stretch>
        </p:blipFill>
        <p:spPr>
          <a:xfrm>
            <a:off x="533400" y="4242345"/>
            <a:ext cx="3581400" cy="805755"/>
          </a:xfrm>
          <a:prstGeom prst="rect">
            <a:avLst/>
          </a:prstGeom>
        </p:spPr>
      </p:pic>
      <p:pic>
        <p:nvPicPr>
          <p:cNvPr id="5" name="Picture 4" descr="image.png"/>
          <p:cNvPicPr>
            <a:picLocks noChangeAspect="1"/>
          </p:cNvPicPr>
          <p:nvPr/>
        </p:nvPicPr>
        <p:blipFill>
          <a:blip r:embed="rId5"/>
          <a:stretch>
            <a:fillRect/>
          </a:stretch>
        </p:blipFill>
        <p:spPr>
          <a:xfrm>
            <a:off x="4305300" y="4242345"/>
            <a:ext cx="3581400" cy="805755"/>
          </a:xfrm>
          <a:prstGeom prst="rect">
            <a:avLst/>
          </a:prstGeom>
        </p:spPr>
      </p:pic>
      <p:pic>
        <p:nvPicPr>
          <p:cNvPr id="6" name="Picture 5" descr="image.png"/>
          <p:cNvPicPr>
            <a:picLocks noChangeAspect="1"/>
          </p:cNvPicPr>
          <p:nvPr/>
        </p:nvPicPr>
        <p:blipFill>
          <a:blip r:embed="rId6"/>
          <a:stretch>
            <a:fillRect/>
          </a:stretch>
        </p:blipFill>
        <p:spPr>
          <a:xfrm>
            <a:off x="8077200" y="4242345"/>
            <a:ext cx="3581400" cy="805755"/>
          </a:xfrm>
          <a:prstGeom prst="rect">
            <a:avLst/>
          </a:prstGeom>
        </p:spPr>
      </p:pic>
      <p:pic>
        <p:nvPicPr>
          <p:cNvPr id="7" name="Picture 6" descr="image.png"/>
          <p:cNvPicPr>
            <a:picLocks noChangeAspect="1"/>
          </p:cNvPicPr>
          <p:nvPr/>
        </p:nvPicPr>
        <p:blipFill>
          <a:blip r:embed="rId7"/>
          <a:stretch>
            <a:fillRect/>
          </a:stretch>
        </p:blipFill>
        <p:spPr>
          <a:xfrm>
            <a:off x="533400" y="6367462"/>
            <a:ext cx="11125200" cy="300037"/>
          </a:xfrm>
          <a:prstGeom prst="rect">
            <a:avLst/>
          </a:prstGeom>
        </p:spPr>
      </p:pic>
      <p:sp>
        <p:nvSpPr>
          <p:cNvPr id="8" name="TextBox 7"/>
          <p:cNvSpPr txBox="1"/>
          <p:nvPr/>
        </p:nvSpPr>
        <p:spPr>
          <a:xfrm>
            <a:off x="533400" y="6453187"/>
            <a:ext cx="1657350"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Core Analytical Inquiries</a:t>
            </a:r>
          </a:p>
        </p:txBody>
      </p:sp>
      <p:sp>
        <p:nvSpPr>
          <p:cNvPr id="9" name="TextBox 8"/>
          <p:cNvSpPr txBox="1"/>
          <p:nvPr/>
        </p:nvSpPr>
        <p:spPr>
          <a:xfrm>
            <a:off x="10944225" y="6453187"/>
            <a:ext cx="714375"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Slide 4 / 11</a:t>
            </a:r>
          </a:p>
        </p:txBody>
      </p:sp>
      <p:sp>
        <p:nvSpPr>
          <p:cNvPr id="10" name="TextBox 9"/>
          <p:cNvSpPr txBox="1"/>
          <p:nvPr/>
        </p:nvSpPr>
        <p:spPr>
          <a:xfrm>
            <a:off x="847725" y="2703165"/>
            <a:ext cx="11061382" cy="333375"/>
          </a:xfrm>
          <a:prstGeom prst="rect">
            <a:avLst/>
          </a:prstGeom>
          <a:noFill/>
        </p:spPr>
        <p:txBody>
          <a:bodyPr wrap="square" lIns="0" tIns="0" rIns="0" bIns="0" anchor="t">
            <a:spAutoFit/>
          </a:bodyPr>
          <a:lstStyle/>
          <a:p>
            <a:pPr algn="l"/>
            <a:r>
              <a:rPr sz="1800" b="1" i="0" u="none">
                <a:solidFill>
                  <a:srgbClr val="0F172A"/>
                </a:solidFill>
                <a:latin typeface="Poppins"/>
              </a:rPr>
              <a:t>Is there a relationship between total fare amount and payment type?</a:t>
            </a:r>
          </a:p>
        </p:txBody>
      </p:sp>
      <p:sp>
        <p:nvSpPr>
          <p:cNvPr id="11" name="TextBox 10"/>
          <p:cNvSpPr txBox="1"/>
          <p:nvPr/>
        </p:nvSpPr>
        <p:spPr>
          <a:xfrm>
            <a:off x="847725" y="3150840"/>
            <a:ext cx="10534650" cy="548580"/>
          </a:xfrm>
          <a:prstGeom prst="rect">
            <a:avLst/>
          </a:prstGeom>
          <a:noFill/>
        </p:spPr>
        <p:txBody>
          <a:bodyPr wrap="square" lIns="0" tIns="0" rIns="0" bIns="0" anchor="t">
            <a:spAutoFit/>
          </a:bodyPr>
          <a:lstStyle/>
          <a:p>
            <a:pPr algn="l">
              <a:lnSpc>
                <a:spcPts val="2160"/>
              </a:lnSpc>
            </a:pPr>
            <a:r>
              <a:rPr sz="1350" b="0" i="0" u="none">
                <a:solidFill>
                  <a:srgbClr val="475569"/>
                </a:solidFill>
                <a:latin typeface="Inter"/>
              </a:rPr>
              <a:t>Can we nudge customers towards payment methods that generate higher revenue for drivers, without negatively impacting customer experience?</a:t>
            </a:r>
          </a:p>
        </p:txBody>
      </p:sp>
      <p:sp>
        <p:nvSpPr>
          <p:cNvPr id="12" name="TextBox 11"/>
          <p:cNvSpPr txBox="1"/>
          <p:nvPr/>
        </p:nvSpPr>
        <p:spPr>
          <a:xfrm>
            <a:off x="733425" y="4432845"/>
            <a:ext cx="3181350" cy="272355"/>
          </a:xfrm>
          <a:prstGeom prst="rect">
            <a:avLst/>
          </a:prstGeom>
          <a:noFill/>
        </p:spPr>
        <p:txBody>
          <a:bodyPr wrap="square" lIns="0" tIns="0" rIns="0" bIns="0" anchor="t">
            <a:spAutoFit/>
          </a:bodyPr>
          <a:lstStyle/>
          <a:p>
            <a:pPr algn="l">
              <a:lnSpc>
                <a:spcPts val="2145"/>
              </a:lnSpc>
            </a:pPr>
            <a:r>
              <a:rPr sz="1950" b="1" i="0" u="none">
                <a:solidFill>
                  <a:srgbClr val="FA643F"/>
                </a:solidFill>
                <a:latin typeface="Poppins"/>
              </a:rPr>
              <a:t>+18.9%</a:t>
            </a:r>
          </a:p>
        </p:txBody>
      </p:sp>
      <p:sp>
        <p:nvSpPr>
          <p:cNvPr id="13" name="TextBox 12"/>
          <p:cNvSpPr txBox="1"/>
          <p:nvPr/>
        </p:nvSpPr>
        <p:spPr>
          <a:xfrm>
            <a:off x="733425" y="4743301"/>
            <a:ext cx="3181350" cy="142875"/>
          </a:xfrm>
          <a:prstGeom prst="rect">
            <a:avLst/>
          </a:prstGeom>
          <a:noFill/>
        </p:spPr>
        <p:txBody>
          <a:bodyPr wrap="square" lIns="0" tIns="0" rIns="0" bIns="0" anchor="t">
            <a:spAutoFit/>
          </a:bodyPr>
          <a:lstStyle/>
          <a:p>
            <a:pPr algn="l"/>
            <a:r>
              <a:rPr sz="900" b="0" i="0" u="none">
                <a:solidFill>
                  <a:srgbClr val="64748B"/>
                </a:solidFill>
                <a:latin typeface="Inter SemiBold"/>
              </a:rPr>
              <a:t>OBSERVED CARD FARE PREMIUM</a:t>
            </a:r>
          </a:p>
        </p:txBody>
      </p:sp>
      <p:sp>
        <p:nvSpPr>
          <p:cNvPr id="14" name="TextBox 13"/>
          <p:cNvSpPr txBox="1"/>
          <p:nvPr/>
        </p:nvSpPr>
        <p:spPr>
          <a:xfrm>
            <a:off x="4505325" y="4432845"/>
            <a:ext cx="3181350" cy="272355"/>
          </a:xfrm>
          <a:prstGeom prst="rect">
            <a:avLst/>
          </a:prstGeom>
          <a:noFill/>
        </p:spPr>
        <p:txBody>
          <a:bodyPr wrap="square" lIns="0" tIns="0" rIns="0" bIns="0" anchor="t">
            <a:spAutoFit/>
          </a:bodyPr>
          <a:lstStyle/>
          <a:p>
            <a:pPr algn="l">
              <a:lnSpc>
                <a:spcPts val="2145"/>
              </a:lnSpc>
            </a:pPr>
            <a:r>
              <a:rPr sz="1950" b="1" i="0" u="none">
                <a:solidFill>
                  <a:srgbClr val="FA643F"/>
                </a:solidFill>
                <a:latin typeface="Poppins"/>
              </a:rPr>
              <a:t>+22.0%</a:t>
            </a:r>
          </a:p>
        </p:txBody>
      </p:sp>
      <p:sp>
        <p:nvSpPr>
          <p:cNvPr id="15" name="TextBox 14"/>
          <p:cNvSpPr txBox="1"/>
          <p:nvPr/>
        </p:nvSpPr>
        <p:spPr>
          <a:xfrm>
            <a:off x="4505325" y="4743301"/>
            <a:ext cx="3181350" cy="142875"/>
          </a:xfrm>
          <a:prstGeom prst="rect">
            <a:avLst/>
          </a:prstGeom>
          <a:noFill/>
        </p:spPr>
        <p:txBody>
          <a:bodyPr wrap="square" lIns="0" tIns="0" rIns="0" bIns="0" anchor="t">
            <a:spAutoFit/>
          </a:bodyPr>
          <a:lstStyle/>
          <a:p>
            <a:pPr algn="l"/>
            <a:r>
              <a:rPr sz="900" b="0" i="0" u="none">
                <a:solidFill>
                  <a:srgbClr val="64748B"/>
                </a:solidFill>
                <a:latin typeface="Inter SemiBold"/>
              </a:rPr>
              <a:t>LONGER TRANSIT DISTANCE</a:t>
            </a:r>
          </a:p>
        </p:txBody>
      </p:sp>
      <p:sp>
        <p:nvSpPr>
          <p:cNvPr id="16" name="TextBox 15"/>
          <p:cNvSpPr txBox="1"/>
          <p:nvPr/>
        </p:nvSpPr>
        <p:spPr>
          <a:xfrm>
            <a:off x="8277225" y="4432845"/>
            <a:ext cx="3181350" cy="272355"/>
          </a:xfrm>
          <a:prstGeom prst="rect">
            <a:avLst/>
          </a:prstGeom>
          <a:noFill/>
        </p:spPr>
        <p:txBody>
          <a:bodyPr wrap="square" lIns="0" tIns="0" rIns="0" bIns="0" anchor="t">
            <a:spAutoFit/>
          </a:bodyPr>
          <a:lstStyle/>
          <a:p>
            <a:pPr algn="l">
              <a:lnSpc>
                <a:spcPts val="2145"/>
              </a:lnSpc>
            </a:pPr>
            <a:r>
              <a:rPr sz="1950" b="1" i="0" u="none">
                <a:solidFill>
                  <a:srgbClr val="FA643F"/>
                </a:solidFill>
                <a:latin typeface="Poppins"/>
              </a:rPr>
              <a:t>82.9%</a:t>
            </a:r>
          </a:p>
        </p:txBody>
      </p:sp>
      <p:sp>
        <p:nvSpPr>
          <p:cNvPr id="17" name="TextBox 16"/>
          <p:cNvSpPr txBox="1"/>
          <p:nvPr/>
        </p:nvSpPr>
        <p:spPr>
          <a:xfrm>
            <a:off x="8277225" y="4743301"/>
            <a:ext cx="3181350" cy="142875"/>
          </a:xfrm>
          <a:prstGeom prst="rect">
            <a:avLst/>
          </a:prstGeom>
          <a:noFill/>
        </p:spPr>
        <p:txBody>
          <a:bodyPr wrap="square" lIns="0" tIns="0" rIns="0" bIns="0" anchor="t">
            <a:spAutoFit/>
          </a:bodyPr>
          <a:lstStyle/>
          <a:p>
            <a:pPr algn="l"/>
            <a:r>
              <a:rPr sz="900" b="0" i="0" u="none">
                <a:solidFill>
                  <a:srgbClr val="64748B"/>
                </a:solidFill>
                <a:latin typeface="Inter SemiBold"/>
              </a:rPr>
              <a:t>CURRENT DIGITAL ADOPTION</a:t>
            </a:r>
          </a:p>
        </p:txBody>
      </p:sp>
      <p:sp>
        <p:nvSpPr>
          <p:cNvPr id="18" name="TextBox 17"/>
          <p:cNvSpPr txBox="1"/>
          <p:nvPr/>
        </p:nvSpPr>
        <p:spPr>
          <a:xfrm>
            <a:off x="533400" y="419100"/>
            <a:ext cx="11658600" cy="388590"/>
          </a:xfrm>
          <a:prstGeom prst="rect">
            <a:avLst/>
          </a:prstGeom>
          <a:noFill/>
        </p:spPr>
        <p:txBody>
          <a:bodyPr wrap="square" lIns="0" tIns="0" rIns="0" bIns="0" anchor="t">
            <a:spAutoFit/>
          </a:bodyPr>
          <a:lstStyle/>
          <a:p>
            <a:pPr algn="l">
              <a:lnSpc>
                <a:spcPts val="3060"/>
              </a:lnSpc>
            </a:pPr>
            <a:r>
              <a:rPr sz="2550" b="1" i="0" u="none">
                <a:solidFill>
                  <a:srgbClr val="0F172A"/>
                </a:solidFill>
                <a:latin typeface="Poppins"/>
              </a:rPr>
              <a:t>Research Question</a:t>
            </a:r>
          </a:p>
        </p:txBody>
      </p:sp>
      <p:sp>
        <p:nvSpPr>
          <p:cNvPr id="19" name="Rounded Rectangle 18"/>
          <p:cNvSpPr/>
          <p:nvPr/>
        </p:nvSpPr>
        <p:spPr>
          <a:xfrm>
            <a:off x="5791200" y="594345"/>
            <a:ext cx="609600" cy="38100"/>
          </a:xfrm>
          <a:prstGeom prst="roundRect">
            <a:avLst>
              <a:gd name="adj" fmla="val 50000"/>
            </a:avLst>
          </a:prstGeom>
          <a:solidFill>
            <a:srgbClr val="FA64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2910036"/>
            <a:ext cx="4227462" cy="2283618"/>
          </a:xfrm>
          <a:prstGeom prst="rect">
            <a:avLst/>
          </a:prstGeom>
        </p:spPr>
      </p:pic>
      <p:pic>
        <p:nvPicPr>
          <p:cNvPr id="4" name="Picture 3" descr="image.png"/>
          <p:cNvPicPr>
            <a:picLocks noChangeAspect="1"/>
          </p:cNvPicPr>
          <p:nvPr/>
        </p:nvPicPr>
        <p:blipFill>
          <a:blip r:embed="rId4"/>
          <a:stretch>
            <a:fillRect/>
          </a:stretch>
        </p:blipFill>
        <p:spPr>
          <a:xfrm>
            <a:off x="533400" y="6367462"/>
            <a:ext cx="11125200" cy="300037"/>
          </a:xfrm>
          <a:prstGeom prst="rect">
            <a:avLst/>
          </a:prstGeom>
        </p:spPr>
      </p:pic>
      <p:sp>
        <p:nvSpPr>
          <p:cNvPr id="5" name="TextBox 4"/>
          <p:cNvSpPr txBox="1"/>
          <p:nvPr/>
        </p:nvSpPr>
        <p:spPr>
          <a:xfrm>
            <a:off x="533400" y="6453187"/>
            <a:ext cx="2524125"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Feature Engineering &amp; Data Overview</a:t>
            </a:r>
          </a:p>
        </p:txBody>
      </p:sp>
      <p:sp>
        <p:nvSpPr>
          <p:cNvPr id="6" name="TextBox 5"/>
          <p:cNvSpPr txBox="1"/>
          <p:nvPr/>
        </p:nvSpPr>
        <p:spPr>
          <a:xfrm>
            <a:off x="10953750" y="6453187"/>
            <a:ext cx="704850"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Slide 5 / 11</a:t>
            </a:r>
          </a:p>
        </p:txBody>
      </p:sp>
      <p:sp>
        <p:nvSpPr>
          <p:cNvPr id="7" name="TextBox 6"/>
          <p:cNvSpPr txBox="1"/>
          <p:nvPr/>
        </p:nvSpPr>
        <p:spPr>
          <a:xfrm>
            <a:off x="533400" y="1036290"/>
            <a:ext cx="11125200" cy="457200"/>
          </a:xfrm>
          <a:prstGeom prst="rect">
            <a:avLst/>
          </a:prstGeom>
          <a:noFill/>
        </p:spPr>
        <p:txBody>
          <a:bodyPr wrap="square" lIns="0" tIns="0" rIns="0" bIns="0" anchor="t">
            <a:spAutoFit/>
          </a:bodyPr>
          <a:lstStyle/>
          <a:p>
            <a:pPr algn="l">
              <a:lnSpc>
                <a:spcPts val="1800"/>
              </a:lnSpc>
            </a:pPr>
            <a:r>
              <a:rPr sz="1200" b="0" i="0" u="none">
                <a:solidFill>
                  <a:srgbClr val="334155"/>
                </a:solidFill>
                <a:latin typeface="Inter"/>
              </a:rPr>
              <a:t>For this analysis, we utilized the comprehensive dataset of NYC Taxi Trip records, used data cleaning and feature engineering procedures to concentrate solely on the relevant columns essential for our investigation.</a:t>
            </a:r>
          </a:p>
        </p:txBody>
      </p:sp>
      <p:sp>
        <p:nvSpPr>
          <p:cNvPr id="8" name="TextBox 7"/>
          <p:cNvSpPr txBox="1"/>
          <p:nvPr/>
        </p:nvSpPr>
        <p:spPr>
          <a:xfrm>
            <a:off x="781050" y="3129111"/>
            <a:ext cx="3948774" cy="247650"/>
          </a:xfrm>
          <a:prstGeom prst="rect">
            <a:avLst/>
          </a:prstGeom>
          <a:noFill/>
        </p:spPr>
        <p:txBody>
          <a:bodyPr wrap="square" lIns="0" tIns="0" rIns="0" bIns="0" anchor="t">
            <a:spAutoFit/>
          </a:bodyPr>
          <a:lstStyle/>
          <a:p>
            <a:pPr algn="l"/>
            <a:r>
              <a:rPr sz="1275" b="1" i="0" u="none">
                <a:solidFill>
                  <a:srgbClr val="0F172A"/>
                </a:solidFill>
                <a:latin typeface="Poppins"/>
              </a:rPr>
              <a:t>Relevant columns used for this research:</a:t>
            </a:r>
          </a:p>
        </p:txBody>
      </p:sp>
      <p:sp>
        <p:nvSpPr>
          <p:cNvPr id="9" name="Rounded Rectangle 8"/>
          <p:cNvSpPr/>
          <p:nvPr/>
        </p:nvSpPr>
        <p:spPr>
          <a:xfrm>
            <a:off x="5046612" y="2737395"/>
            <a:ext cx="6897588" cy="2628900"/>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0" name="Table 9"/>
          <p:cNvGraphicFramePr>
            <a:graphicFrameLocks noGrp="1"/>
          </p:cNvGraphicFramePr>
          <p:nvPr/>
        </p:nvGraphicFramePr>
        <p:xfrm>
          <a:off x="5046612" y="2737395"/>
          <a:ext cx="6878536" cy="2628900"/>
        </p:xfrm>
        <a:graphic>
          <a:graphicData uri="http://schemas.openxmlformats.org/drawingml/2006/table">
            <a:tbl>
              <a:tblPr firstRow="1" bandRow="1">
                <a:tableStyleId>{5C22544A-7EE6-4342-B048-85BDC9FD1C3A}</a:tableStyleId>
              </a:tblPr>
              <a:tblGrid>
                <a:gridCol w="1686371">
                  <a:extLst>
                    <a:ext uri="{9D8B030D-6E8A-4147-A177-3AD203B41FA5}">
                      <a16:colId xmlns:a16="http://schemas.microsoft.com/office/drawing/2014/main" val="20000"/>
                    </a:ext>
                  </a:extLst>
                </a:gridCol>
                <a:gridCol w="1379785">
                  <a:extLst>
                    <a:ext uri="{9D8B030D-6E8A-4147-A177-3AD203B41FA5}">
                      <a16:colId xmlns:a16="http://schemas.microsoft.com/office/drawing/2014/main" val="20001"/>
                    </a:ext>
                  </a:extLst>
                </a:gridCol>
                <a:gridCol w="1461492">
                  <a:extLst>
                    <a:ext uri="{9D8B030D-6E8A-4147-A177-3AD203B41FA5}">
                      <a16:colId xmlns:a16="http://schemas.microsoft.com/office/drawing/2014/main" val="20002"/>
                    </a:ext>
                  </a:extLst>
                </a:gridCol>
                <a:gridCol w="1349126">
                  <a:extLst>
                    <a:ext uri="{9D8B030D-6E8A-4147-A177-3AD203B41FA5}">
                      <a16:colId xmlns:a16="http://schemas.microsoft.com/office/drawing/2014/main" val="20003"/>
                    </a:ext>
                  </a:extLst>
                </a:gridCol>
                <a:gridCol w="1001762">
                  <a:extLst>
                    <a:ext uri="{9D8B030D-6E8A-4147-A177-3AD203B41FA5}">
                      <a16:colId xmlns:a16="http://schemas.microsoft.com/office/drawing/2014/main" val="20004"/>
                    </a:ext>
                  </a:extLst>
                </a:gridCol>
              </a:tblGrid>
              <a:tr h="438150">
                <a:tc>
                  <a:txBody>
                    <a:bodyPr/>
                    <a:lstStyle/>
                    <a:p>
                      <a:pPr algn="l"/>
                      <a:r>
                        <a:rPr sz="1050" b="0" i="0" u="none">
                          <a:solidFill>
                            <a:srgbClr val="FFFFFF"/>
                          </a:solidFill>
                          <a:latin typeface="Poppins SemiBold"/>
                        </a:rPr>
                        <a:t>passenger_count</a:t>
                      </a:r>
                    </a:p>
                  </a:txBody>
                  <a:tcPr marL="63500" marR="63500" marT="25400" marB="25400" anchor="ctr">
                    <a:lnL>
                      <a:noFill/>
                    </a:lnL>
                    <a:lnR>
                      <a:noFill/>
                    </a:lnR>
                    <a:lnT>
                      <a:noFill/>
                    </a:lnT>
                    <a:lnB>
                      <a:noFill/>
                    </a:lnB>
                    <a:solidFill>
                      <a:srgbClr val="FA643F"/>
                    </a:solidFill>
                  </a:tcPr>
                </a:tc>
                <a:tc>
                  <a:txBody>
                    <a:bodyPr/>
                    <a:lstStyle/>
                    <a:p>
                      <a:pPr algn="l"/>
                      <a:r>
                        <a:rPr sz="1050" b="0" i="0" u="none">
                          <a:solidFill>
                            <a:srgbClr val="FFFFFF"/>
                          </a:solidFill>
                          <a:latin typeface="Poppins SemiBold"/>
                        </a:rPr>
                        <a:t>trip_distance</a:t>
                      </a:r>
                    </a:p>
                  </a:txBody>
                  <a:tcPr marL="63500" marR="63500" marT="25400" marB="25400" anchor="ctr">
                    <a:lnL>
                      <a:noFill/>
                    </a:lnL>
                    <a:lnR>
                      <a:noFill/>
                    </a:lnR>
                    <a:lnT>
                      <a:noFill/>
                    </a:lnT>
                    <a:lnB>
                      <a:noFill/>
                    </a:lnB>
                    <a:solidFill>
                      <a:srgbClr val="FA643F"/>
                    </a:solidFill>
                  </a:tcPr>
                </a:tc>
                <a:tc>
                  <a:txBody>
                    <a:bodyPr/>
                    <a:lstStyle/>
                    <a:p>
                      <a:pPr algn="l"/>
                      <a:r>
                        <a:rPr sz="1050" b="0" i="0" u="none">
                          <a:solidFill>
                            <a:srgbClr val="FFFFFF"/>
                          </a:solidFill>
                          <a:latin typeface="Poppins SemiBold"/>
                        </a:rPr>
                        <a:t>payment_type</a:t>
                      </a:r>
                    </a:p>
                  </a:txBody>
                  <a:tcPr marL="63500" marR="63500" marT="25400" marB="25400" anchor="ctr">
                    <a:lnL>
                      <a:noFill/>
                    </a:lnL>
                    <a:lnR>
                      <a:noFill/>
                    </a:lnR>
                    <a:lnT>
                      <a:noFill/>
                    </a:lnT>
                    <a:lnB>
                      <a:noFill/>
                    </a:lnB>
                    <a:solidFill>
                      <a:srgbClr val="FA643F"/>
                    </a:solidFill>
                  </a:tcPr>
                </a:tc>
                <a:tc>
                  <a:txBody>
                    <a:bodyPr/>
                    <a:lstStyle/>
                    <a:p>
                      <a:pPr algn="l"/>
                      <a:r>
                        <a:rPr sz="1050" b="0" i="0" u="none">
                          <a:solidFill>
                            <a:srgbClr val="FFFFFF"/>
                          </a:solidFill>
                          <a:latin typeface="Poppins SemiBold"/>
                        </a:rPr>
                        <a:t>fare_amount</a:t>
                      </a:r>
                    </a:p>
                  </a:txBody>
                  <a:tcPr marL="63500" marR="63500" marT="25400" marB="25400" anchor="ctr">
                    <a:lnL>
                      <a:noFill/>
                    </a:lnL>
                    <a:lnR>
                      <a:noFill/>
                    </a:lnR>
                    <a:lnT>
                      <a:noFill/>
                    </a:lnT>
                    <a:lnB>
                      <a:noFill/>
                    </a:lnB>
                    <a:solidFill>
                      <a:srgbClr val="FA643F"/>
                    </a:solidFill>
                  </a:tcPr>
                </a:tc>
                <a:tc>
                  <a:txBody>
                    <a:bodyPr/>
                    <a:lstStyle/>
                    <a:p>
                      <a:pPr algn="l"/>
                      <a:r>
                        <a:rPr sz="1050" b="0" i="0" u="none">
                          <a:solidFill>
                            <a:srgbClr val="FFFFFF"/>
                          </a:solidFill>
                          <a:latin typeface="Poppins SemiBold"/>
                        </a:rPr>
                        <a:t>duration</a:t>
                      </a:r>
                    </a:p>
                  </a:txBody>
                  <a:tcPr marL="63500" marR="63500" marT="25400" marB="25400" anchor="ctr">
                    <a:lnL>
                      <a:noFill/>
                    </a:lnL>
                    <a:lnR>
                      <a:noFill/>
                    </a:lnR>
                    <a:lnT>
                      <a:noFill/>
                    </a:lnT>
                    <a:lnB>
                      <a:noFill/>
                    </a:lnB>
                    <a:solidFill>
                      <a:srgbClr val="FA643F"/>
                    </a:solidFill>
                  </a:tcPr>
                </a:tc>
                <a:extLst>
                  <a:ext uri="{0D108BD9-81ED-4DB2-BD59-A6C34878D82A}">
                    <a16:rowId xmlns:a16="http://schemas.microsoft.com/office/drawing/2014/main" val="10000"/>
                  </a:ext>
                </a:extLst>
              </a:tr>
              <a:tr h="438150">
                <a:tc>
                  <a:txBody>
                    <a:bodyPr/>
                    <a:lstStyle/>
                    <a:p>
                      <a:pPr algn="l"/>
                      <a:r>
                        <a:rPr sz="1050" b="0" i="0" u="none">
                          <a:solidFill>
                            <a:srgbClr val="1E293B"/>
                          </a:solidFill>
                          <a:latin typeface="Inter"/>
                        </a:rPr>
                        <a:t>1</a:t>
                      </a:r>
                    </a:p>
                  </a:txBody>
                  <a:tcPr marL="63500" marR="63500" marT="25400" marB="25400" anchor="ctr">
                    <a:lnL>
                      <a:noFill/>
                    </a:lnL>
                    <a:lnR>
                      <a:noFill/>
                    </a:lnR>
                    <a:lnT>
                      <a:noFill/>
                    </a:lnT>
                    <a:lnB>
                      <a:noFill/>
                    </a:lnB>
                    <a:noFill/>
                  </a:tcPr>
                </a:tc>
                <a:tc>
                  <a:txBody>
                    <a:bodyPr/>
                    <a:lstStyle/>
                    <a:p>
                      <a:pPr algn="l"/>
                      <a:r>
                        <a:rPr sz="1050" b="0" i="0" u="none">
                          <a:solidFill>
                            <a:srgbClr val="1E293B"/>
                          </a:solidFill>
                          <a:latin typeface="Inter"/>
                        </a:rPr>
                        <a:t>7.51 mi</a:t>
                      </a:r>
                    </a:p>
                  </a:txBody>
                  <a:tcPr marL="63500" marR="63500" marT="25400" marB="25400" anchor="ctr">
                    <a:lnL>
                      <a:noFill/>
                    </a:lnL>
                    <a:lnR>
                      <a:noFill/>
                    </a:lnR>
                    <a:lnT>
                      <a:noFill/>
                    </a:lnT>
                    <a:lnB>
                      <a:noFill/>
                    </a:lnB>
                    <a:noFill/>
                  </a:tcPr>
                </a:tc>
                <a:tc>
                  <a:txBody>
                    <a:bodyPr/>
                    <a:lstStyle/>
                    <a:p>
                      <a:pPr algn="l"/>
                      <a:r>
                        <a:rPr sz="1050" b="0" i="0" u="none">
                          <a:solidFill>
                            <a:srgbClr val="1E293B"/>
                          </a:solidFill>
                          <a:latin typeface="Inter"/>
                        </a:rPr>
                        <a:t>Cash</a:t>
                      </a:r>
                    </a:p>
                  </a:txBody>
                  <a:tcPr marL="63500" marR="63500" marT="25400" marB="25400" anchor="ctr">
                    <a:lnL>
                      <a:noFill/>
                    </a:lnL>
                    <a:lnR>
                      <a:noFill/>
                    </a:lnR>
                    <a:lnT>
                      <a:noFill/>
                    </a:lnT>
                    <a:lnB>
                      <a:noFill/>
                    </a:lnB>
                    <a:noFill/>
                  </a:tcPr>
                </a:tc>
                <a:tc>
                  <a:txBody>
                    <a:bodyPr/>
                    <a:lstStyle/>
                    <a:p>
                      <a:pPr algn="l"/>
                      <a:r>
                        <a:rPr sz="1050" b="0" i="0" u="none">
                          <a:solidFill>
                            <a:srgbClr val="1E293B"/>
                          </a:solidFill>
                          <a:latin typeface="Inter"/>
                        </a:rPr>
                        <a:t>$35.90</a:t>
                      </a:r>
                    </a:p>
                  </a:txBody>
                  <a:tcPr marL="63500" marR="63500" marT="25400" marB="25400" anchor="ctr">
                    <a:lnL>
                      <a:noFill/>
                    </a:lnL>
                    <a:lnR>
                      <a:noFill/>
                    </a:lnR>
                    <a:lnT>
                      <a:noFill/>
                    </a:lnT>
                    <a:lnB>
                      <a:noFill/>
                    </a:lnB>
                    <a:noFill/>
                  </a:tcPr>
                </a:tc>
                <a:tc>
                  <a:txBody>
                    <a:bodyPr/>
                    <a:lstStyle/>
                    <a:p>
                      <a:pPr algn="l"/>
                      <a:r>
                        <a:rPr sz="1050" b="0" i="0" u="none">
                          <a:solidFill>
                            <a:srgbClr val="1E293B"/>
                          </a:solidFill>
                          <a:latin typeface="Inter"/>
                        </a:rPr>
                        <a:t>27.82 min</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438150">
                <a:tc>
                  <a:txBody>
                    <a:bodyPr/>
                    <a:lstStyle/>
                    <a:p>
                      <a:pPr algn="l"/>
                      <a:r>
                        <a:rPr sz="1050" b="0" i="0" u="none">
                          <a:solidFill>
                            <a:srgbClr val="1E293B"/>
                          </a:solidFill>
                          <a:latin typeface="Inter"/>
                        </a:rPr>
                        <a:t>1</a:t>
                      </a:r>
                    </a:p>
                  </a:txBody>
                  <a:tcPr marL="63500" marR="63500" marT="25400" marB="25400" anchor="ctr">
                    <a:lnL>
                      <a:noFill/>
                    </a:lnL>
                    <a:lnR>
                      <a:noFill/>
                    </a:lnR>
                    <a:lnT>
                      <a:noFill/>
                    </a:lnT>
                    <a:lnB>
                      <a:noFill/>
                    </a:lnB>
                    <a:solidFill>
                      <a:srgbClr val="FDFAF8"/>
                    </a:solidFill>
                  </a:tcPr>
                </a:tc>
                <a:tc>
                  <a:txBody>
                    <a:bodyPr/>
                    <a:lstStyle/>
                    <a:p>
                      <a:pPr algn="l"/>
                      <a:r>
                        <a:rPr sz="1050" b="0" i="0" u="none">
                          <a:solidFill>
                            <a:srgbClr val="1E293B"/>
                          </a:solidFill>
                          <a:latin typeface="Inter"/>
                        </a:rPr>
                        <a:t>6.14 mi</a:t>
                      </a:r>
                    </a:p>
                  </a:txBody>
                  <a:tcPr marL="63500" marR="63500" marT="25400" marB="25400" anchor="ctr">
                    <a:lnL>
                      <a:noFill/>
                    </a:lnL>
                    <a:lnR>
                      <a:noFill/>
                    </a:lnR>
                    <a:lnT>
                      <a:noFill/>
                    </a:lnT>
                    <a:lnB>
                      <a:noFill/>
                    </a:lnB>
                    <a:solidFill>
                      <a:srgbClr val="FDFAF8"/>
                    </a:solidFill>
                  </a:tcPr>
                </a:tc>
                <a:tc>
                  <a:txBody>
                    <a:bodyPr/>
                    <a:lstStyle/>
                    <a:p>
                      <a:pPr algn="l"/>
                      <a:r>
                        <a:rPr sz="1050" b="0" i="0" u="none">
                          <a:solidFill>
                            <a:srgbClr val="1E293B"/>
                          </a:solidFill>
                          <a:latin typeface="Inter"/>
                        </a:rPr>
                        <a:t>Card</a:t>
                      </a:r>
                    </a:p>
                  </a:txBody>
                  <a:tcPr marL="63500" marR="63500" marT="25400" marB="25400" anchor="ctr">
                    <a:lnL>
                      <a:noFill/>
                    </a:lnL>
                    <a:lnR>
                      <a:noFill/>
                    </a:lnR>
                    <a:lnT>
                      <a:noFill/>
                    </a:lnT>
                    <a:lnB>
                      <a:noFill/>
                    </a:lnB>
                    <a:solidFill>
                      <a:srgbClr val="FDFAF8"/>
                    </a:solidFill>
                  </a:tcPr>
                </a:tc>
                <a:tc>
                  <a:txBody>
                    <a:bodyPr/>
                    <a:lstStyle/>
                    <a:p>
                      <a:pPr algn="l"/>
                      <a:r>
                        <a:rPr sz="1050" b="0" i="0" u="none">
                          <a:solidFill>
                            <a:srgbClr val="1E293B"/>
                          </a:solidFill>
                          <a:latin typeface="Inter"/>
                        </a:rPr>
                        <a:t>$27.50</a:t>
                      </a:r>
                    </a:p>
                  </a:txBody>
                  <a:tcPr marL="63500" marR="63500" marT="25400" marB="25400" anchor="ctr">
                    <a:lnL>
                      <a:noFill/>
                    </a:lnL>
                    <a:lnR>
                      <a:noFill/>
                    </a:lnR>
                    <a:lnT>
                      <a:noFill/>
                    </a:lnT>
                    <a:lnB>
                      <a:noFill/>
                    </a:lnB>
                    <a:solidFill>
                      <a:srgbClr val="FDFAF8"/>
                    </a:solidFill>
                  </a:tcPr>
                </a:tc>
                <a:tc>
                  <a:txBody>
                    <a:bodyPr/>
                    <a:lstStyle/>
                    <a:p>
                      <a:pPr algn="l"/>
                      <a:r>
                        <a:rPr sz="1050" b="0" i="0" u="none">
                          <a:solidFill>
                            <a:srgbClr val="1E293B"/>
                          </a:solidFill>
                          <a:latin typeface="Inter"/>
                        </a:rPr>
                        <a:t>22.70 min</a:t>
                      </a:r>
                    </a:p>
                  </a:txBody>
                  <a:tcPr marL="63500" marR="63500" marT="25400" marB="25400" anchor="ctr">
                    <a:lnL>
                      <a:noFill/>
                    </a:lnL>
                    <a:lnR>
                      <a:noFill/>
                    </a:lnR>
                    <a:lnT>
                      <a:noFill/>
                    </a:lnT>
                    <a:lnB>
                      <a:noFill/>
                    </a:lnB>
                    <a:solidFill>
                      <a:srgbClr val="FDFAF8"/>
                    </a:solidFill>
                  </a:tcPr>
                </a:tc>
                <a:extLst>
                  <a:ext uri="{0D108BD9-81ED-4DB2-BD59-A6C34878D82A}">
                    <a16:rowId xmlns:a16="http://schemas.microsoft.com/office/drawing/2014/main" val="10002"/>
                  </a:ext>
                </a:extLst>
              </a:tr>
              <a:tr h="438150">
                <a:tc>
                  <a:txBody>
                    <a:bodyPr/>
                    <a:lstStyle/>
                    <a:p>
                      <a:pPr algn="l"/>
                      <a:r>
                        <a:rPr sz="1050" b="0" i="0" u="none">
                          <a:solidFill>
                            <a:srgbClr val="1E293B"/>
                          </a:solidFill>
                          <a:latin typeface="Inter"/>
                        </a:rPr>
                        <a:t>1</a:t>
                      </a:r>
                    </a:p>
                  </a:txBody>
                  <a:tcPr marL="63500" marR="63500" marT="25400" marB="25400" anchor="ctr">
                    <a:lnL>
                      <a:noFill/>
                    </a:lnL>
                    <a:lnR>
                      <a:noFill/>
                    </a:lnR>
                    <a:lnT>
                      <a:noFill/>
                    </a:lnT>
                    <a:lnB>
                      <a:noFill/>
                    </a:lnB>
                    <a:noFill/>
                  </a:tcPr>
                </a:tc>
                <a:tc>
                  <a:txBody>
                    <a:bodyPr/>
                    <a:lstStyle/>
                    <a:p>
                      <a:pPr algn="l"/>
                      <a:r>
                        <a:rPr sz="1050" b="0" i="0" u="none">
                          <a:solidFill>
                            <a:srgbClr val="1E293B"/>
                          </a:solidFill>
                          <a:latin typeface="Inter"/>
                        </a:rPr>
                        <a:t>2.40 mi</a:t>
                      </a:r>
                    </a:p>
                  </a:txBody>
                  <a:tcPr marL="63500" marR="63500" marT="25400" marB="25400" anchor="ctr">
                    <a:lnL>
                      <a:noFill/>
                    </a:lnL>
                    <a:lnR>
                      <a:noFill/>
                    </a:lnR>
                    <a:lnT>
                      <a:noFill/>
                    </a:lnT>
                    <a:lnB>
                      <a:noFill/>
                    </a:lnB>
                    <a:noFill/>
                  </a:tcPr>
                </a:tc>
                <a:tc>
                  <a:txBody>
                    <a:bodyPr/>
                    <a:lstStyle/>
                    <a:p>
                      <a:pPr algn="l"/>
                      <a:r>
                        <a:rPr sz="1050" b="0" i="0" u="none">
                          <a:solidFill>
                            <a:srgbClr val="1E293B"/>
                          </a:solidFill>
                          <a:latin typeface="Inter"/>
                        </a:rPr>
                        <a:t>Card</a:t>
                      </a:r>
                    </a:p>
                  </a:txBody>
                  <a:tcPr marL="63500" marR="63500" marT="25400" marB="25400" anchor="ctr">
                    <a:lnL>
                      <a:noFill/>
                    </a:lnL>
                    <a:lnR>
                      <a:noFill/>
                    </a:lnR>
                    <a:lnT>
                      <a:noFill/>
                    </a:lnT>
                    <a:lnB>
                      <a:noFill/>
                    </a:lnB>
                    <a:noFill/>
                  </a:tcPr>
                </a:tc>
                <a:tc>
                  <a:txBody>
                    <a:bodyPr/>
                    <a:lstStyle/>
                    <a:p>
                      <a:pPr algn="l"/>
                      <a:r>
                        <a:rPr sz="1050" b="0" i="0" u="none">
                          <a:solidFill>
                            <a:srgbClr val="1E293B"/>
                          </a:solidFill>
                          <a:latin typeface="Inter"/>
                        </a:rPr>
                        <a:t>$19.10</a:t>
                      </a:r>
                    </a:p>
                  </a:txBody>
                  <a:tcPr marL="63500" marR="63500" marT="25400" marB="25400" anchor="ctr">
                    <a:lnL>
                      <a:noFill/>
                    </a:lnL>
                    <a:lnR>
                      <a:noFill/>
                    </a:lnR>
                    <a:lnT>
                      <a:noFill/>
                    </a:lnT>
                    <a:lnB>
                      <a:noFill/>
                    </a:lnB>
                    <a:noFill/>
                  </a:tcPr>
                </a:tc>
                <a:tc>
                  <a:txBody>
                    <a:bodyPr/>
                    <a:lstStyle/>
                    <a:p>
                      <a:pPr algn="l"/>
                      <a:r>
                        <a:rPr sz="1050" b="0" i="0" u="none">
                          <a:solidFill>
                            <a:srgbClr val="1E293B"/>
                          </a:solidFill>
                          <a:latin typeface="Inter"/>
                        </a:rPr>
                        <a:t>19.95 min</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438150">
                <a:tc>
                  <a:txBody>
                    <a:bodyPr/>
                    <a:lstStyle/>
                    <a:p>
                      <a:pPr algn="l"/>
                      <a:r>
                        <a:rPr sz="1050" b="0" i="0" u="none">
                          <a:solidFill>
                            <a:srgbClr val="1E293B"/>
                          </a:solidFill>
                          <a:latin typeface="Inter"/>
                        </a:rPr>
                        <a:t>2</a:t>
                      </a:r>
                    </a:p>
                  </a:txBody>
                  <a:tcPr marL="63500" marR="63500" marT="25400" marB="25400" anchor="ctr">
                    <a:lnL>
                      <a:noFill/>
                    </a:lnL>
                    <a:lnR>
                      <a:noFill/>
                    </a:lnR>
                    <a:lnT>
                      <a:noFill/>
                    </a:lnT>
                    <a:lnB>
                      <a:noFill/>
                    </a:lnB>
                    <a:solidFill>
                      <a:srgbClr val="FDFAF8"/>
                    </a:solidFill>
                  </a:tcPr>
                </a:tc>
                <a:tc>
                  <a:txBody>
                    <a:bodyPr/>
                    <a:lstStyle/>
                    <a:p>
                      <a:pPr algn="l"/>
                      <a:r>
                        <a:rPr sz="1050" b="0" i="0" u="none">
                          <a:solidFill>
                            <a:srgbClr val="1E293B"/>
                          </a:solidFill>
                          <a:latin typeface="Inter"/>
                        </a:rPr>
                        <a:t>0.86 mi</a:t>
                      </a:r>
                    </a:p>
                  </a:txBody>
                  <a:tcPr marL="63500" marR="63500" marT="25400" marB="25400" anchor="ctr">
                    <a:lnL>
                      <a:noFill/>
                    </a:lnL>
                    <a:lnR>
                      <a:noFill/>
                    </a:lnR>
                    <a:lnT>
                      <a:noFill/>
                    </a:lnT>
                    <a:lnB>
                      <a:noFill/>
                    </a:lnB>
                    <a:solidFill>
                      <a:srgbClr val="FDFAF8"/>
                    </a:solidFill>
                  </a:tcPr>
                </a:tc>
                <a:tc>
                  <a:txBody>
                    <a:bodyPr/>
                    <a:lstStyle/>
                    <a:p>
                      <a:pPr algn="l"/>
                      <a:r>
                        <a:rPr sz="1050" b="0" i="0" u="none">
                          <a:solidFill>
                            <a:srgbClr val="1E293B"/>
                          </a:solidFill>
                          <a:latin typeface="Inter"/>
                        </a:rPr>
                        <a:t>Card</a:t>
                      </a:r>
                    </a:p>
                  </a:txBody>
                  <a:tcPr marL="63500" marR="63500" marT="25400" marB="25400" anchor="ctr">
                    <a:lnL>
                      <a:noFill/>
                    </a:lnL>
                    <a:lnR>
                      <a:noFill/>
                    </a:lnR>
                    <a:lnT>
                      <a:noFill/>
                    </a:lnT>
                    <a:lnB>
                      <a:noFill/>
                    </a:lnB>
                    <a:solidFill>
                      <a:srgbClr val="FDFAF8"/>
                    </a:solidFill>
                  </a:tcPr>
                </a:tc>
                <a:tc>
                  <a:txBody>
                    <a:bodyPr/>
                    <a:lstStyle/>
                    <a:p>
                      <a:pPr algn="l"/>
                      <a:r>
                        <a:rPr sz="1050" b="0" i="0" u="none">
                          <a:solidFill>
                            <a:srgbClr val="1E293B"/>
                          </a:solidFill>
                          <a:latin typeface="Inter"/>
                        </a:rPr>
                        <a:t>$7.20</a:t>
                      </a:r>
                    </a:p>
                  </a:txBody>
                  <a:tcPr marL="63500" marR="63500" marT="25400" marB="25400" anchor="ctr">
                    <a:lnL>
                      <a:noFill/>
                    </a:lnL>
                    <a:lnR>
                      <a:noFill/>
                    </a:lnR>
                    <a:lnT>
                      <a:noFill/>
                    </a:lnT>
                    <a:lnB>
                      <a:noFill/>
                    </a:lnB>
                    <a:solidFill>
                      <a:srgbClr val="FDFAF8"/>
                    </a:solidFill>
                  </a:tcPr>
                </a:tc>
                <a:tc>
                  <a:txBody>
                    <a:bodyPr/>
                    <a:lstStyle/>
                    <a:p>
                      <a:pPr algn="l"/>
                      <a:r>
                        <a:rPr sz="1050" b="0" i="0" u="none">
                          <a:solidFill>
                            <a:srgbClr val="1E293B"/>
                          </a:solidFill>
                          <a:latin typeface="Inter"/>
                        </a:rPr>
                        <a:t>5.30 min</a:t>
                      </a:r>
                    </a:p>
                  </a:txBody>
                  <a:tcPr marL="63500" marR="63500" marT="25400" marB="25400" anchor="ctr">
                    <a:lnL>
                      <a:noFill/>
                    </a:lnL>
                    <a:lnR>
                      <a:noFill/>
                    </a:lnR>
                    <a:lnT>
                      <a:noFill/>
                    </a:lnT>
                    <a:lnB>
                      <a:noFill/>
                    </a:lnB>
                    <a:solidFill>
                      <a:srgbClr val="FDFAF8"/>
                    </a:solidFill>
                  </a:tcPr>
                </a:tc>
                <a:extLst>
                  <a:ext uri="{0D108BD9-81ED-4DB2-BD59-A6C34878D82A}">
                    <a16:rowId xmlns:a16="http://schemas.microsoft.com/office/drawing/2014/main" val="10004"/>
                  </a:ext>
                </a:extLst>
              </a:tr>
              <a:tr h="438150">
                <a:tc>
                  <a:txBody>
                    <a:bodyPr/>
                    <a:lstStyle/>
                    <a:p>
                      <a:pPr algn="l"/>
                      <a:r>
                        <a:rPr sz="1050" b="0" i="0" u="none">
                          <a:solidFill>
                            <a:srgbClr val="1E293B"/>
                          </a:solidFill>
                          <a:latin typeface="Inter"/>
                        </a:rPr>
                        <a:t>1</a:t>
                      </a:r>
                    </a:p>
                  </a:txBody>
                  <a:tcPr marL="63500" marR="63500" marT="25400" marB="25400" anchor="ctr">
                    <a:lnL>
                      <a:noFill/>
                    </a:lnL>
                    <a:lnR>
                      <a:noFill/>
                    </a:lnR>
                    <a:lnT>
                      <a:noFill/>
                    </a:lnT>
                    <a:lnB>
                      <a:noFill/>
                    </a:lnB>
                    <a:noFill/>
                  </a:tcPr>
                </a:tc>
                <a:tc>
                  <a:txBody>
                    <a:bodyPr/>
                    <a:lstStyle/>
                    <a:p>
                      <a:pPr algn="l"/>
                      <a:r>
                        <a:rPr sz="1050" b="0" i="0" u="none">
                          <a:solidFill>
                            <a:srgbClr val="1E293B"/>
                          </a:solidFill>
                          <a:latin typeface="Inter"/>
                        </a:rPr>
                        <a:t>5.89 mi</a:t>
                      </a:r>
                    </a:p>
                  </a:txBody>
                  <a:tcPr marL="63500" marR="63500" marT="25400" marB="25400" anchor="ctr">
                    <a:lnL>
                      <a:noFill/>
                    </a:lnL>
                    <a:lnR>
                      <a:noFill/>
                    </a:lnR>
                    <a:lnT>
                      <a:noFill/>
                    </a:lnT>
                    <a:lnB>
                      <a:noFill/>
                    </a:lnB>
                    <a:noFill/>
                  </a:tcPr>
                </a:tc>
                <a:tc>
                  <a:txBody>
                    <a:bodyPr/>
                    <a:lstStyle/>
                    <a:p>
                      <a:pPr algn="l"/>
                      <a:r>
                        <a:rPr sz="1050" b="0" i="0" u="none">
                          <a:solidFill>
                            <a:srgbClr val="1E293B"/>
                          </a:solidFill>
                          <a:latin typeface="Inter"/>
                        </a:rPr>
                        <a:t>Card</a:t>
                      </a:r>
                    </a:p>
                  </a:txBody>
                  <a:tcPr marL="63500" marR="63500" marT="25400" marB="25400" anchor="ctr">
                    <a:lnL>
                      <a:noFill/>
                    </a:lnL>
                    <a:lnR>
                      <a:noFill/>
                    </a:lnR>
                    <a:lnT>
                      <a:noFill/>
                    </a:lnT>
                    <a:lnB>
                      <a:noFill/>
                    </a:lnB>
                    <a:noFill/>
                  </a:tcPr>
                </a:tc>
                <a:tc>
                  <a:txBody>
                    <a:bodyPr/>
                    <a:lstStyle/>
                    <a:p>
                      <a:pPr algn="l"/>
                      <a:r>
                        <a:rPr sz="1050" b="0" i="0" u="none">
                          <a:solidFill>
                            <a:srgbClr val="1E293B"/>
                          </a:solidFill>
                          <a:latin typeface="Inter"/>
                        </a:rPr>
                        <a:t>$28.90</a:t>
                      </a:r>
                    </a:p>
                  </a:txBody>
                  <a:tcPr marL="63500" marR="63500" marT="25400" marB="25400" anchor="ctr">
                    <a:lnL>
                      <a:noFill/>
                    </a:lnL>
                    <a:lnR>
                      <a:noFill/>
                    </a:lnR>
                    <a:lnT>
                      <a:noFill/>
                    </a:lnT>
                    <a:lnB>
                      <a:noFill/>
                    </a:lnB>
                    <a:noFill/>
                  </a:tcPr>
                </a:tc>
                <a:tc>
                  <a:txBody>
                    <a:bodyPr/>
                    <a:lstStyle/>
                    <a:p>
                      <a:pPr algn="l"/>
                      <a:r>
                        <a:rPr sz="1050" b="0" i="0" u="none">
                          <a:solidFill>
                            <a:srgbClr val="1E293B"/>
                          </a:solidFill>
                          <a:latin typeface="Inter"/>
                        </a:rPr>
                        <a:t>25.33 min</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1047750" y="3510111"/>
            <a:ext cx="3494037" cy="216693"/>
          </a:xfrm>
          <a:prstGeom prst="rect">
            <a:avLst/>
          </a:prstGeom>
          <a:noFill/>
        </p:spPr>
        <p:txBody>
          <a:bodyPr wrap="square" lIns="0" tIns="0" rIns="0" bIns="0" anchor="t">
            <a:spAutoFit/>
          </a:bodyPr>
          <a:lstStyle/>
          <a:p>
            <a:pPr algn="l">
              <a:lnSpc>
                <a:spcPts val="1631"/>
              </a:lnSpc>
            </a:pPr>
            <a:r>
              <a:rPr sz="1125" b="0" i="0" u="none">
                <a:solidFill>
                  <a:srgbClr val="334155"/>
                </a:solidFill>
                <a:latin typeface="Inter"/>
              </a:rPr>
              <a:t>passenger_count (1 to 6)</a:t>
            </a:r>
          </a:p>
        </p:txBody>
      </p:sp>
      <p:sp>
        <p:nvSpPr>
          <p:cNvPr id="12" name="TextBox 11"/>
          <p:cNvSpPr txBox="1"/>
          <p:nvPr/>
        </p:nvSpPr>
        <p:spPr>
          <a:xfrm>
            <a:off x="1047750" y="3822055"/>
            <a:ext cx="3494037" cy="216693"/>
          </a:xfrm>
          <a:prstGeom prst="rect">
            <a:avLst/>
          </a:prstGeom>
          <a:noFill/>
        </p:spPr>
        <p:txBody>
          <a:bodyPr wrap="square" lIns="0" tIns="0" rIns="0" bIns="0" anchor="t">
            <a:spAutoFit/>
          </a:bodyPr>
          <a:lstStyle/>
          <a:p>
            <a:pPr algn="l">
              <a:lnSpc>
                <a:spcPts val="1631"/>
              </a:lnSpc>
            </a:pPr>
            <a:r>
              <a:rPr sz="1125" b="0" i="0" u="none">
                <a:solidFill>
                  <a:srgbClr val="334155"/>
                </a:solidFill>
                <a:latin typeface="Inter"/>
              </a:rPr>
              <a:t>payment_type (Card or Cash)</a:t>
            </a:r>
          </a:p>
        </p:txBody>
      </p:sp>
      <p:sp>
        <p:nvSpPr>
          <p:cNvPr id="13" name="TextBox 12"/>
          <p:cNvSpPr txBox="1"/>
          <p:nvPr/>
        </p:nvSpPr>
        <p:spPr>
          <a:xfrm>
            <a:off x="1047750" y="4133998"/>
            <a:ext cx="3494037" cy="216693"/>
          </a:xfrm>
          <a:prstGeom prst="rect">
            <a:avLst/>
          </a:prstGeom>
          <a:noFill/>
        </p:spPr>
        <p:txBody>
          <a:bodyPr wrap="square" lIns="0" tIns="0" rIns="0" bIns="0" anchor="t">
            <a:spAutoFit/>
          </a:bodyPr>
          <a:lstStyle/>
          <a:p>
            <a:pPr algn="l">
              <a:lnSpc>
                <a:spcPts val="1631"/>
              </a:lnSpc>
            </a:pPr>
            <a:r>
              <a:rPr sz="1125" b="0" i="0" u="none">
                <a:solidFill>
                  <a:srgbClr val="334155"/>
                </a:solidFill>
                <a:latin typeface="Inter"/>
              </a:rPr>
              <a:t>fare_amount (base fare $)</a:t>
            </a:r>
          </a:p>
        </p:txBody>
      </p:sp>
      <p:sp>
        <p:nvSpPr>
          <p:cNvPr id="14" name="TextBox 13"/>
          <p:cNvSpPr txBox="1"/>
          <p:nvPr/>
        </p:nvSpPr>
        <p:spPr>
          <a:xfrm>
            <a:off x="1047750" y="4445942"/>
            <a:ext cx="3494037" cy="216693"/>
          </a:xfrm>
          <a:prstGeom prst="rect">
            <a:avLst/>
          </a:prstGeom>
          <a:noFill/>
        </p:spPr>
        <p:txBody>
          <a:bodyPr wrap="square" lIns="0" tIns="0" rIns="0" bIns="0" anchor="t">
            <a:spAutoFit/>
          </a:bodyPr>
          <a:lstStyle/>
          <a:p>
            <a:pPr algn="l">
              <a:lnSpc>
                <a:spcPts val="1631"/>
              </a:lnSpc>
            </a:pPr>
            <a:r>
              <a:rPr sz="1125" b="0" i="0" u="none">
                <a:solidFill>
                  <a:srgbClr val="334155"/>
                </a:solidFill>
                <a:latin typeface="Inter"/>
              </a:rPr>
              <a:t>trip_distance (miles)</a:t>
            </a:r>
          </a:p>
        </p:txBody>
      </p:sp>
      <p:sp>
        <p:nvSpPr>
          <p:cNvPr id="15" name="TextBox 14"/>
          <p:cNvSpPr txBox="1"/>
          <p:nvPr/>
        </p:nvSpPr>
        <p:spPr>
          <a:xfrm>
            <a:off x="1047750" y="4757886"/>
            <a:ext cx="3494037" cy="216693"/>
          </a:xfrm>
          <a:prstGeom prst="rect">
            <a:avLst/>
          </a:prstGeom>
          <a:noFill/>
        </p:spPr>
        <p:txBody>
          <a:bodyPr wrap="square" lIns="0" tIns="0" rIns="0" bIns="0" anchor="t">
            <a:spAutoFit/>
          </a:bodyPr>
          <a:lstStyle/>
          <a:p>
            <a:pPr algn="l">
              <a:lnSpc>
                <a:spcPts val="1631"/>
              </a:lnSpc>
            </a:pPr>
            <a:r>
              <a:rPr sz="1125" b="0" i="0" u="none">
                <a:solidFill>
                  <a:srgbClr val="334155"/>
                </a:solidFill>
                <a:latin typeface="Inter"/>
              </a:rPr>
              <a:t>duration (minutes)</a:t>
            </a:r>
          </a:p>
        </p:txBody>
      </p:sp>
      <p:sp>
        <p:nvSpPr>
          <p:cNvPr id="16" name="TextBox 15"/>
          <p:cNvSpPr txBox="1"/>
          <p:nvPr/>
        </p:nvSpPr>
        <p:spPr>
          <a:xfrm>
            <a:off x="857250" y="3491061"/>
            <a:ext cx="95250" cy="304800"/>
          </a:xfrm>
          <a:prstGeom prst="rect">
            <a:avLst/>
          </a:prstGeom>
          <a:noFill/>
        </p:spPr>
        <p:txBody>
          <a:bodyPr wrap="square" lIns="0" tIns="0" rIns="0" bIns="0" anchor="t">
            <a:spAutoFit/>
          </a:bodyPr>
          <a:lstStyle/>
          <a:p>
            <a:pPr algn="l">
              <a:lnSpc>
                <a:spcPts val="2392"/>
              </a:lnSpc>
            </a:pPr>
            <a:r>
              <a:rPr sz="1650" b="1" i="0" u="none">
                <a:solidFill>
                  <a:srgbClr val="FA643F"/>
                </a:solidFill>
                <a:latin typeface="Inter"/>
              </a:rPr>
              <a:t>•</a:t>
            </a:r>
          </a:p>
        </p:txBody>
      </p:sp>
      <p:sp>
        <p:nvSpPr>
          <p:cNvPr id="17" name="TextBox 16"/>
          <p:cNvSpPr txBox="1"/>
          <p:nvPr/>
        </p:nvSpPr>
        <p:spPr>
          <a:xfrm>
            <a:off x="857250" y="3803005"/>
            <a:ext cx="95250" cy="304800"/>
          </a:xfrm>
          <a:prstGeom prst="rect">
            <a:avLst/>
          </a:prstGeom>
          <a:noFill/>
        </p:spPr>
        <p:txBody>
          <a:bodyPr wrap="square" lIns="0" tIns="0" rIns="0" bIns="0" anchor="t">
            <a:spAutoFit/>
          </a:bodyPr>
          <a:lstStyle/>
          <a:p>
            <a:pPr algn="l">
              <a:lnSpc>
                <a:spcPts val="2392"/>
              </a:lnSpc>
            </a:pPr>
            <a:r>
              <a:rPr sz="1650" b="1" i="0" u="none">
                <a:solidFill>
                  <a:srgbClr val="FA643F"/>
                </a:solidFill>
                <a:latin typeface="Inter"/>
              </a:rPr>
              <a:t>•</a:t>
            </a:r>
          </a:p>
        </p:txBody>
      </p:sp>
      <p:sp>
        <p:nvSpPr>
          <p:cNvPr id="18" name="TextBox 17"/>
          <p:cNvSpPr txBox="1"/>
          <p:nvPr/>
        </p:nvSpPr>
        <p:spPr>
          <a:xfrm>
            <a:off x="857250" y="4114948"/>
            <a:ext cx="95250" cy="304800"/>
          </a:xfrm>
          <a:prstGeom prst="rect">
            <a:avLst/>
          </a:prstGeom>
          <a:noFill/>
        </p:spPr>
        <p:txBody>
          <a:bodyPr wrap="square" lIns="0" tIns="0" rIns="0" bIns="0" anchor="t">
            <a:spAutoFit/>
          </a:bodyPr>
          <a:lstStyle/>
          <a:p>
            <a:pPr algn="l">
              <a:lnSpc>
                <a:spcPts val="2392"/>
              </a:lnSpc>
            </a:pPr>
            <a:r>
              <a:rPr sz="1650" b="1" i="0" u="none">
                <a:solidFill>
                  <a:srgbClr val="FA643F"/>
                </a:solidFill>
                <a:latin typeface="Inter"/>
              </a:rPr>
              <a:t>•</a:t>
            </a:r>
          </a:p>
        </p:txBody>
      </p:sp>
      <p:sp>
        <p:nvSpPr>
          <p:cNvPr id="19" name="TextBox 18"/>
          <p:cNvSpPr txBox="1"/>
          <p:nvPr/>
        </p:nvSpPr>
        <p:spPr>
          <a:xfrm>
            <a:off x="857250" y="4426892"/>
            <a:ext cx="95250" cy="304800"/>
          </a:xfrm>
          <a:prstGeom prst="rect">
            <a:avLst/>
          </a:prstGeom>
          <a:noFill/>
        </p:spPr>
        <p:txBody>
          <a:bodyPr wrap="square" lIns="0" tIns="0" rIns="0" bIns="0" anchor="t">
            <a:spAutoFit/>
          </a:bodyPr>
          <a:lstStyle/>
          <a:p>
            <a:pPr algn="l">
              <a:lnSpc>
                <a:spcPts val="2392"/>
              </a:lnSpc>
            </a:pPr>
            <a:r>
              <a:rPr sz="1650" b="1" i="0" u="none">
                <a:solidFill>
                  <a:srgbClr val="FA643F"/>
                </a:solidFill>
                <a:latin typeface="Inter"/>
              </a:rPr>
              <a:t>•</a:t>
            </a:r>
          </a:p>
        </p:txBody>
      </p:sp>
      <p:sp>
        <p:nvSpPr>
          <p:cNvPr id="20" name="TextBox 19"/>
          <p:cNvSpPr txBox="1"/>
          <p:nvPr/>
        </p:nvSpPr>
        <p:spPr>
          <a:xfrm>
            <a:off x="857250" y="4738836"/>
            <a:ext cx="95250" cy="304800"/>
          </a:xfrm>
          <a:prstGeom prst="rect">
            <a:avLst/>
          </a:prstGeom>
          <a:noFill/>
        </p:spPr>
        <p:txBody>
          <a:bodyPr wrap="square" lIns="0" tIns="0" rIns="0" bIns="0" anchor="t">
            <a:spAutoFit/>
          </a:bodyPr>
          <a:lstStyle/>
          <a:p>
            <a:pPr algn="l">
              <a:lnSpc>
                <a:spcPts val="2392"/>
              </a:lnSpc>
            </a:pPr>
            <a:r>
              <a:rPr sz="1650" b="1" i="0" u="none">
                <a:solidFill>
                  <a:srgbClr val="FA643F"/>
                </a:solidFill>
                <a:latin typeface="Inter"/>
              </a:rPr>
              <a:t>•</a:t>
            </a:r>
          </a:p>
        </p:txBody>
      </p:sp>
      <p:sp>
        <p:nvSpPr>
          <p:cNvPr id="21" name="Rectangle 20"/>
          <p:cNvSpPr/>
          <p:nvPr/>
        </p:nvSpPr>
        <p:spPr>
          <a:xfrm>
            <a:off x="5056137" y="3604170"/>
            <a:ext cx="1686371"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742509" y="3604170"/>
            <a:ext cx="1379785"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122294" y="3604170"/>
            <a:ext cx="1461492"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583787" y="3604170"/>
            <a:ext cx="1349126"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932914" y="3604170"/>
            <a:ext cx="1001762"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56137" y="4042320"/>
            <a:ext cx="1686371"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742509" y="4042320"/>
            <a:ext cx="1379785"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122294" y="4042320"/>
            <a:ext cx="1461492"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583787" y="4042320"/>
            <a:ext cx="1349126"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0932914" y="4042320"/>
            <a:ext cx="1001762"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056137" y="4480470"/>
            <a:ext cx="1686371"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742509" y="4480470"/>
            <a:ext cx="1379785"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122294" y="4480470"/>
            <a:ext cx="1461492"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9583787" y="4480470"/>
            <a:ext cx="1349126"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0932914" y="4480470"/>
            <a:ext cx="1001762"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056137" y="4918620"/>
            <a:ext cx="1686371"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742509" y="4918620"/>
            <a:ext cx="1379785"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122294" y="4918620"/>
            <a:ext cx="1461492"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583787" y="4918620"/>
            <a:ext cx="1349126"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0932914" y="4918620"/>
            <a:ext cx="1001762"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33400" y="419100"/>
            <a:ext cx="11658600" cy="388590"/>
          </a:xfrm>
          <a:prstGeom prst="rect">
            <a:avLst/>
          </a:prstGeom>
          <a:noFill/>
        </p:spPr>
        <p:txBody>
          <a:bodyPr wrap="square" lIns="0" tIns="0" rIns="0" bIns="0" anchor="t">
            <a:spAutoFit/>
          </a:bodyPr>
          <a:lstStyle/>
          <a:p>
            <a:pPr algn="l">
              <a:lnSpc>
                <a:spcPts val="3060"/>
              </a:lnSpc>
            </a:pPr>
            <a:r>
              <a:rPr sz="2550" b="1" i="0" u="none">
                <a:solidFill>
                  <a:srgbClr val="0F172A"/>
                </a:solidFill>
                <a:latin typeface="Poppins"/>
              </a:rPr>
              <a:t>Data Overview</a:t>
            </a:r>
          </a:p>
        </p:txBody>
      </p:sp>
      <p:sp>
        <p:nvSpPr>
          <p:cNvPr id="42" name="Rounded Rectangle 41"/>
          <p:cNvSpPr/>
          <p:nvPr/>
        </p:nvSpPr>
        <p:spPr>
          <a:xfrm>
            <a:off x="5791200" y="594345"/>
            <a:ext cx="609600" cy="38100"/>
          </a:xfrm>
          <a:prstGeom prst="roundRect">
            <a:avLst>
              <a:gd name="adj" fmla="val 50000"/>
            </a:avLst>
          </a:prstGeom>
          <a:solidFill>
            <a:srgbClr val="FA64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6367462"/>
            <a:ext cx="11125200" cy="300037"/>
          </a:xfrm>
          <a:prstGeom prst="rect">
            <a:avLst/>
          </a:prstGeom>
        </p:spPr>
      </p:pic>
      <p:sp>
        <p:nvSpPr>
          <p:cNvPr id="4" name="TextBox 3"/>
          <p:cNvSpPr txBox="1"/>
          <p:nvPr/>
        </p:nvSpPr>
        <p:spPr>
          <a:xfrm>
            <a:off x="533400" y="6453187"/>
            <a:ext cx="2409825"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End-to-End Analytical Methodology</a:t>
            </a:r>
          </a:p>
        </p:txBody>
      </p:sp>
      <p:sp>
        <p:nvSpPr>
          <p:cNvPr id="5" name="TextBox 4"/>
          <p:cNvSpPr txBox="1"/>
          <p:nvPr/>
        </p:nvSpPr>
        <p:spPr>
          <a:xfrm>
            <a:off x="10953750" y="6453187"/>
            <a:ext cx="704850"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Slide 6 / 11</a:t>
            </a:r>
          </a:p>
        </p:txBody>
      </p:sp>
      <p:sp>
        <p:nvSpPr>
          <p:cNvPr id="6" name="Rounded Rectangle 5"/>
          <p:cNvSpPr/>
          <p:nvPr/>
        </p:nvSpPr>
        <p:spPr>
          <a:xfrm>
            <a:off x="533400" y="2227808"/>
            <a:ext cx="11125200" cy="3019425"/>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533400" y="2227808"/>
          <a:ext cx="11106149" cy="3019425"/>
        </p:xfrm>
        <a:graphic>
          <a:graphicData uri="http://schemas.openxmlformats.org/drawingml/2006/table">
            <a:tbl>
              <a:tblPr firstRow="1" bandRow="1">
                <a:tableStyleId>{5C22544A-7EE6-4342-B048-85BDC9FD1C3A}</a:tableStyleId>
              </a:tblPr>
              <a:tblGrid>
                <a:gridCol w="3109614">
                  <a:extLst>
                    <a:ext uri="{9D8B030D-6E8A-4147-A177-3AD203B41FA5}">
                      <a16:colId xmlns:a16="http://schemas.microsoft.com/office/drawing/2014/main" val="20000"/>
                    </a:ext>
                  </a:extLst>
                </a:gridCol>
                <a:gridCol w="7996535">
                  <a:extLst>
                    <a:ext uri="{9D8B030D-6E8A-4147-A177-3AD203B41FA5}">
                      <a16:colId xmlns:a16="http://schemas.microsoft.com/office/drawing/2014/main" val="20001"/>
                    </a:ext>
                  </a:extLst>
                </a:gridCol>
              </a:tblGrid>
              <a:tr h="603885">
                <a:tc>
                  <a:txBody>
                    <a:bodyPr/>
                    <a:lstStyle/>
                    <a:p>
                      <a:pPr algn="l"/>
                      <a:r>
                        <a:rPr sz="1200" b="0" i="0" u="none">
                          <a:solidFill>
                            <a:srgbClr val="FFFFFF"/>
                          </a:solidFill>
                          <a:latin typeface="Poppins SemiBold"/>
                        </a:rPr>
                        <a:t>Step</a:t>
                      </a:r>
                    </a:p>
                  </a:txBody>
                  <a:tcPr marL="63500" marR="63500" marT="25400" marB="25400" anchor="ctr">
                    <a:lnL>
                      <a:noFill/>
                    </a:lnL>
                    <a:lnR>
                      <a:noFill/>
                    </a:lnR>
                    <a:lnT>
                      <a:noFill/>
                    </a:lnT>
                    <a:lnB>
                      <a:noFill/>
                    </a:lnB>
                    <a:solidFill>
                      <a:srgbClr val="FA643F"/>
                    </a:solidFill>
                  </a:tcPr>
                </a:tc>
                <a:tc>
                  <a:txBody>
                    <a:bodyPr/>
                    <a:lstStyle/>
                    <a:p>
                      <a:pPr algn="l"/>
                      <a:r>
                        <a:rPr sz="1200" b="0" i="0" u="none">
                          <a:solidFill>
                            <a:srgbClr val="FFFFFF"/>
                          </a:solidFill>
                          <a:latin typeface="Poppins SemiBold"/>
                        </a:rPr>
                        <a:t>Description</a:t>
                      </a:r>
                    </a:p>
                  </a:txBody>
                  <a:tcPr marL="63500" marR="63500" marT="25400" marB="25400" anchor="ctr">
                    <a:lnL>
                      <a:noFill/>
                    </a:lnL>
                    <a:lnR>
                      <a:noFill/>
                    </a:lnR>
                    <a:lnT>
                      <a:noFill/>
                    </a:lnT>
                    <a:lnB>
                      <a:noFill/>
                    </a:lnB>
                    <a:solidFill>
                      <a:srgbClr val="FA643F"/>
                    </a:solidFill>
                  </a:tcPr>
                </a:tc>
                <a:extLst>
                  <a:ext uri="{0D108BD9-81ED-4DB2-BD59-A6C34878D82A}">
                    <a16:rowId xmlns:a16="http://schemas.microsoft.com/office/drawing/2014/main" val="10000"/>
                  </a:ext>
                </a:extLst>
              </a:tr>
              <a:tr h="603885">
                <a:tc>
                  <a:txBody>
                    <a:bodyPr/>
                    <a:lstStyle/>
                    <a:p>
                      <a:pPr algn="l"/>
                      <a:r>
                        <a:rPr sz="1050" b="1" i="0" u="none">
                          <a:solidFill>
                            <a:srgbClr val="1E293B"/>
                          </a:solidFill>
                          <a:latin typeface="Inter"/>
                        </a:rPr>
                        <a:t>Data Cleaning &amp; Hygiene</a:t>
                      </a:r>
                    </a:p>
                  </a:txBody>
                  <a:tcPr marL="63500" marR="63500" marT="25400" marB="25400" anchor="ctr">
                    <a:lnL>
                      <a:noFill/>
                    </a:lnL>
                    <a:lnR>
                      <a:noFill/>
                    </a:lnR>
                    <a:lnT>
                      <a:noFill/>
                    </a:lnT>
                    <a:lnB>
                      <a:noFill/>
                    </a:lnB>
                    <a:noFill/>
                  </a:tcPr>
                </a:tc>
                <a:tc>
                  <a:txBody>
                    <a:bodyPr/>
                    <a:lstStyle/>
                    <a:p>
                      <a:pPr algn="l"/>
                      <a:r>
                        <a:rPr sz="1050" b="0" i="0" u="none">
                          <a:solidFill>
                            <a:srgbClr val="1E293B"/>
                          </a:solidFill>
                          <a:latin typeface="Inter"/>
                        </a:rPr>
                        <a:t>Derived trip duration; resolved 955K missing values (proved 100% Flex Fares); pruned deduplicated rows; removed non-positive values and capped outliers via 1.5×IQR boundary trimming.</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603885">
                <a:tc>
                  <a:txBody>
                    <a:bodyPr/>
                    <a:lstStyle/>
                    <a:p>
                      <a:pPr algn="l"/>
                      <a:r>
                        <a:rPr sz="1050" b="1" i="0" u="none">
                          <a:solidFill>
                            <a:srgbClr val="1E293B"/>
                          </a:solidFill>
                          <a:latin typeface="Inter"/>
                        </a:rPr>
                        <a:t>Descriptive Analysis</a:t>
                      </a:r>
                    </a:p>
                  </a:txBody>
                  <a:tcPr marL="63500" marR="63500" marT="25400" marB="25400" anchor="ctr">
                    <a:lnL>
                      <a:noFill/>
                    </a:lnL>
                    <a:lnR>
                      <a:noFill/>
                    </a:lnR>
                    <a:lnT>
                      <a:noFill/>
                    </a:lnT>
                    <a:lnB>
                      <a:noFill/>
                    </a:lnB>
                    <a:solidFill>
                      <a:srgbClr val="FDFAF8"/>
                    </a:solidFill>
                  </a:tcPr>
                </a:tc>
                <a:tc>
                  <a:txBody>
                    <a:bodyPr/>
                    <a:lstStyle/>
                    <a:p>
                      <a:pPr algn="l"/>
                      <a:r>
                        <a:rPr sz="1050" b="0" i="0" u="none">
                          <a:solidFill>
                            <a:srgbClr val="1E293B"/>
                          </a:solidFill>
                          <a:latin typeface="Inter"/>
                        </a:rPr>
                        <a:t>Performed statistical analysis to summarize key aspects of the data, focusing on fare amounts, transit distance, and payment types across groups.</a:t>
                      </a:r>
                    </a:p>
                  </a:txBody>
                  <a:tcPr marL="63500" marR="63500" marT="25400" marB="25400" anchor="ctr">
                    <a:lnL>
                      <a:noFill/>
                    </a:lnL>
                    <a:lnR>
                      <a:noFill/>
                    </a:lnR>
                    <a:lnT>
                      <a:noFill/>
                    </a:lnT>
                    <a:lnB>
                      <a:noFill/>
                    </a:lnB>
                    <a:solidFill>
                      <a:srgbClr val="FDFAF8"/>
                    </a:solidFill>
                  </a:tcPr>
                </a:tc>
                <a:extLst>
                  <a:ext uri="{0D108BD9-81ED-4DB2-BD59-A6C34878D82A}">
                    <a16:rowId xmlns:a16="http://schemas.microsoft.com/office/drawing/2014/main" val="10002"/>
                  </a:ext>
                </a:extLst>
              </a:tr>
              <a:tr h="603885">
                <a:tc>
                  <a:txBody>
                    <a:bodyPr/>
                    <a:lstStyle/>
                    <a:p>
                      <a:pPr algn="l"/>
                      <a:r>
                        <a:rPr sz="1050" b="1" i="0" u="none">
                          <a:solidFill>
                            <a:srgbClr val="1E293B"/>
                          </a:solidFill>
                          <a:latin typeface="Inter"/>
                        </a:rPr>
                        <a:t>Confounder Analysis</a:t>
                      </a:r>
                    </a:p>
                  </a:txBody>
                  <a:tcPr marL="63500" marR="63500" marT="25400" marB="25400" anchor="ctr">
                    <a:lnL>
                      <a:noFill/>
                    </a:lnL>
                    <a:lnR>
                      <a:noFill/>
                    </a:lnR>
                    <a:lnT>
                      <a:noFill/>
                    </a:lnT>
                    <a:lnB>
                      <a:noFill/>
                    </a:lnB>
                    <a:noFill/>
                  </a:tcPr>
                </a:tc>
                <a:tc>
                  <a:txBody>
                    <a:bodyPr/>
                    <a:lstStyle/>
                    <a:p>
                      <a:pPr algn="l"/>
                      <a:r>
                        <a:rPr sz="1050" b="0" i="0" u="none">
                          <a:solidFill>
                            <a:srgbClr val="1E293B"/>
                          </a:solidFill>
                          <a:latin typeface="Inter"/>
                        </a:rPr>
                        <a:t>Cross-tabulated passenger volume against payment channels to prove group capacity does not bias the fare differences between Card and Cash.</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603885">
                <a:tc>
                  <a:txBody>
                    <a:bodyPr/>
                    <a:lstStyle/>
                    <a:p>
                      <a:pPr algn="l"/>
                      <a:r>
                        <a:rPr sz="1050" b="1" i="0" u="none">
                          <a:solidFill>
                            <a:srgbClr val="1E293B"/>
                          </a:solidFill>
                          <a:latin typeface="Inter"/>
                        </a:rPr>
                        <a:t>Hypothesis Testing</a:t>
                      </a:r>
                    </a:p>
                  </a:txBody>
                  <a:tcPr marL="63500" marR="63500" marT="25400" marB="25400" anchor="ctr">
                    <a:lnL>
                      <a:noFill/>
                    </a:lnL>
                    <a:lnR>
                      <a:noFill/>
                    </a:lnR>
                    <a:lnT>
                      <a:noFill/>
                    </a:lnT>
                    <a:lnB>
                      <a:noFill/>
                    </a:lnB>
                    <a:solidFill>
                      <a:srgbClr val="FDFAF8"/>
                    </a:solidFill>
                  </a:tcPr>
                </a:tc>
                <a:tc>
                  <a:txBody>
                    <a:bodyPr/>
                    <a:lstStyle/>
                    <a:p>
                      <a:pPr algn="l"/>
                      <a:r>
                        <a:rPr sz="1050" b="0" i="0" u="none">
                          <a:solidFill>
                            <a:srgbClr val="1E293B"/>
                          </a:solidFill>
                          <a:latin typeface="Inter"/>
                        </a:rPr>
                        <a:t>Conducted Welch's Two-Sample Independent T-test to evaluate the relationship between payment type and fare amount, statistically testing if differences are significant.</a:t>
                      </a:r>
                    </a:p>
                  </a:txBody>
                  <a:tcPr marL="63500" marR="63500" marT="25400" marB="25400" anchor="ctr">
                    <a:lnL>
                      <a:noFill/>
                    </a:lnL>
                    <a:lnR>
                      <a:noFill/>
                    </a:lnR>
                    <a:lnT>
                      <a:noFill/>
                    </a:lnT>
                    <a:lnB>
                      <a:noFill/>
                    </a:lnB>
                    <a:solidFill>
                      <a:srgbClr val="FDFAF8"/>
                    </a:solidFill>
                  </a:tcPr>
                </a:tc>
                <a:extLst>
                  <a:ext uri="{0D108BD9-81ED-4DB2-BD59-A6C34878D82A}">
                    <a16:rowId xmlns:a16="http://schemas.microsoft.com/office/drawing/2014/main" val="10004"/>
                  </a:ext>
                </a:extLst>
              </a:tr>
            </a:tbl>
          </a:graphicData>
        </a:graphic>
      </p:graphicFrame>
      <p:sp>
        <p:nvSpPr>
          <p:cNvPr id="8" name="Rectangle 7"/>
          <p:cNvSpPr/>
          <p:nvPr/>
        </p:nvSpPr>
        <p:spPr>
          <a:xfrm>
            <a:off x="542925" y="3323183"/>
            <a:ext cx="3109614"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2539" y="3323183"/>
            <a:ext cx="7996535"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2925" y="3961358"/>
            <a:ext cx="3109614"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652539" y="3961358"/>
            <a:ext cx="7996535"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2925" y="4599533"/>
            <a:ext cx="3109614"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652539" y="4599533"/>
            <a:ext cx="7996535"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3400" y="419100"/>
            <a:ext cx="11658600" cy="388590"/>
          </a:xfrm>
          <a:prstGeom prst="rect">
            <a:avLst/>
          </a:prstGeom>
          <a:noFill/>
        </p:spPr>
        <p:txBody>
          <a:bodyPr wrap="square" lIns="0" tIns="0" rIns="0" bIns="0" anchor="t">
            <a:spAutoFit/>
          </a:bodyPr>
          <a:lstStyle/>
          <a:p>
            <a:pPr algn="l">
              <a:lnSpc>
                <a:spcPts val="3060"/>
              </a:lnSpc>
            </a:pPr>
            <a:r>
              <a:rPr sz="2550" b="1" i="0" u="none">
                <a:solidFill>
                  <a:srgbClr val="0F172A"/>
                </a:solidFill>
                <a:latin typeface="Poppins"/>
              </a:rPr>
              <a:t>Methodology</a:t>
            </a:r>
          </a:p>
        </p:txBody>
      </p:sp>
      <p:sp>
        <p:nvSpPr>
          <p:cNvPr id="15" name="Rounded Rectangle 14"/>
          <p:cNvSpPr/>
          <p:nvPr/>
        </p:nvSpPr>
        <p:spPr>
          <a:xfrm>
            <a:off x="5791200" y="594345"/>
            <a:ext cx="609600" cy="38100"/>
          </a:xfrm>
          <a:prstGeom prst="roundRect">
            <a:avLst>
              <a:gd name="adj" fmla="val 50000"/>
            </a:avLst>
          </a:prstGeom>
          <a:solidFill>
            <a:srgbClr val="FA64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2344489"/>
            <a:ext cx="3448794" cy="3371850"/>
          </a:xfrm>
          <a:prstGeom prst="rect">
            <a:avLst/>
          </a:prstGeom>
        </p:spPr>
      </p:pic>
      <p:pic>
        <p:nvPicPr>
          <p:cNvPr id="4" name="Picture 3" descr="image.png"/>
          <p:cNvPicPr>
            <a:picLocks noChangeAspect="1"/>
          </p:cNvPicPr>
          <p:nvPr/>
        </p:nvPicPr>
        <p:blipFill>
          <a:blip r:embed="rId4"/>
          <a:stretch>
            <a:fillRect/>
          </a:stretch>
        </p:blipFill>
        <p:spPr>
          <a:xfrm>
            <a:off x="4153644" y="2344489"/>
            <a:ext cx="3448794" cy="3371850"/>
          </a:xfrm>
          <a:prstGeom prst="rect">
            <a:avLst/>
          </a:prstGeom>
        </p:spPr>
      </p:pic>
      <p:pic>
        <p:nvPicPr>
          <p:cNvPr id="5" name="Picture 4" descr="image.png"/>
          <p:cNvPicPr>
            <a:picLocks noChangeAspect="1"/>
          </p:cNvPicPr>
          <p:nvPr/>
        </p:nvPicPr>
        <p:blipFill>
          <a:blip r:embed="rId5"/>
          <a:stretch>
            <a:fillRect/>
          </a:stretch>
        </p:blipFill>
        <p:spPr>
          <a:xfrm>
            <a:off x="638175" y="2449264"/>
            <a:ext cx="3239244" cy="2952750"/>
          </a:xfrm>
          <a:prstGeom prst="rect">
            <a:avLst/>
          </a:prstGeom>
        </p:spPr>
      </p:pic>
      <p:pic>
        <p:nvPicPr>
          <p:cNvPr id="6" name="Picture 5" descr="image.png"/>
          <p:cNvPicPr>
            <a:picLocks noChangeAspect="1"/>
          </p:cNvPicPr>
          <p:nvPr/>
        </p:nvPicPr>
        <p:blipFill>
          <a:blip r:embed="rId5"/>
          <a:stretch>
            <a:fillRect/>
          </a:stretch>
        </p:blipFill>
        <p:spPr>
          <a:xfrm>
            <a:off x="4258419" y="2449264"/>
            <a:ext cx="3239244" cy="2952750"/>
          </a:xfrm>
          <a:prstGeom prst="rect">
            <a:avLst/>
          </a:prstGeom>
        </p:spPr>
      </p:pic>
      <p:pic>
        <p:nvPicPr>
          <p:cNvPr id="7" name="Picture 6" descr="image.png"/>
          <p:cNvPicPr>
            <a:picLocks noChangeAspect="1"/>
          </p:cNvPicPr>
          <p:nvPr/>
        </p:nvPicPr>
        <p:blipFill>
          <a:blip r:embed="rId6"/>
          <a:stretch>
            <a:fillRect/>
          </a:stretch>
        </p:blipFill>
        <p:spPr>
          <a:xfrm>
            <a:off x="533400" y="6367462"/>
            <a:ext cx="11125200" cy="300037"/>
          </a:xfrm>
          <a:prstGeom prst="rect">
            <a:avLst/>
          </a:prstGeom>
        </p:spPr>
      </p:pic>
      <p:sp>
        <p:nvSpPr>
          <p:cNvPr id="8" name="TextBox 7"/>
          <p:cNvSpPr txBox="1"/>
          <p:nvPr/>
        </p:nvSpPr>
        <p:spPr>
          <a:xfrm>
            <a:off x="533400" y="6453187"/>
            <a:ext cx="2876550"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Comparative Fare &amp; Distance Distributions</a:t>
            </a:r>
          </a:p>
        </p:txBody>
      </p:sp>
      <p:sp>
        <p:nvSpPr>
          <p:cNvPr id="9" name="TextBox 8"/>
          <p:cNvSpPr txBox="1"/>
          <p:nvPr/>
        </p:nvSpPr>
        <p:spPr>
          <a:xfrm>
            <a:off x="10963275" y="6453187"/>
            <a:ext cx="695325"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Slide 7 / 11</a:t>
            </a:r>
          </a:p>
        </p:txBody>
      </p:sp>
      <p:sp>
        <p:nvSpPr>
          <p:cNvPr id="10" name="TextBox 9"/>
          <p:cNvSpPr txBox="1"/>
          <p:nvPr/>
        </p:nvSpPr>
        <p:spPr>
          <a:xfrm>
            <a:off x="800100" y="1758701"/>
            <a:ext cx="10858500" cy="207168"/>
          </a:xfrm>
          <a:prstGeom prst="rect">
            <a:avLst/>
          </a:prstGeom>
          <a:noFill/>
        </p:spPr>
        <p:txBody>
          <a:bodyPr wrap="square" lIns="0" tIns="0" rIns="0" bIns="0" anchor="t">
            <a:spAutoFit/>
          </a:bodyPr>
          <a:lstStyle/>
          <a:p>
            <a:pPr algn="l">
              <a:lnSpc>
                <a:spcPts val="1631"/>
              </a:lnSpc>
            </a:pPr>
            <a:r>
              <a:rPr sz="1125" b="0" i="0" u="none">
                <a:solidFill>
                  <a:srgbClr val="334155"/>
                </a:solidFill>
                <a:latin typeface="Inter"/>
              </a:rPr>
              <a:t>Customers paying with cards tend to have a slightly higher average trip distance and fare amount compared to those paying with cash.</a:t>
            </a:r>
          </a:p>
        </p:txBody>
      </p:sp>
      <p:sp>
        <p:nvSpPr>
          <p:cNvPr id="11" name="TextBox 10"/>
          <p:cNvSpPr txBox="1"/>
          <p:nvPr/>
        </p:nvSpPr>
        <p:spPr>
          <a:xfrm>
            <a:off x="800100" y="2023020"/>
            <a:ext cx="10858500" cy="207168"/>
          </a:xfrm>
          <a:prstGeom prst="rect">
            <a:avLst/>
          </a:prstGeom>
          <a:noFill/>
        </p:spPr>
        <p:txBody>
          <a:bodyPr wrap="square" lIns="0" tIns="0" rIns="0" bIns="0" anchor="t">
            <a:spAutoFit/>
          </a:bodyPr>
          <a:lstStyle/>
          <a:p>
            <a:pPr algn="l">
              <a:lnSpc>
                <a:spcPts val="1631"/>
              </a:lnSpc>
            </a:pPr>
            <a:r>
              <a:rPr sz="1125" b="0" i="0" u="none">
                <a:solidFill>
                  <a:srgbClr val="334155"/>
                </a:solidFill>
                <a:latin typeface="Inter"/>
              </a:rPr>
              <a:t>Indicates that customers prefer to pay more with cards when they have high fare amount and long trip distance.</a:t>
            </a:r>
          </a:p>
        </p:txBody>
      </p:sp>
      <p:sp>
        <p:nvSpPr>
          <p:cNvPr id="12" name="TextBox 11"/>
          <p:cNvSpPr txBox="1"/>
          <p:nvPr/>
        </p:nvSpPr>
        <p:spPr>
          <a:xfrm>
            <a:off x="638175" y="5440114"/>
            <a:ext cx="3239244" cy="171450"/>
          </a:xfrm>
          <a:prstGeom prst="rect">
            <a:avLst/>
          </a:prstGeom>
          <a:noFill/>
        </p:spPr>
        <p:txBody>
          <a:bodyPr wrap="square" lIns="0" tIns="0" rIns="0" bIns="0" anchor="t">
            <a:spAutoFit/>
          </a:bodyPr>
          <a:lstStyle/>
          <a:p>
            <a:pPr algn="ctr">
              <a:lnSpc>
                <a:spcPts val="1350"/>
              </a:lnSpc>
            </a:pPr>
            <a:r>
              <a:rPr sz="900" b="0" i="0" u="none">
                <a:solidFill>
                  <a:srgbClr val="475569"/>
                </a:solidFill>
                <a:latin typeface="Inter SemiBold"/>
              </a:rPr>
              <a:t>Fare Amount Distribution</a:t>
            </a:r>
          </a:p>
        </p:txBody>
      </p:sp>
      <p:sp>
        <p:nvSpPr>
          <p:cNvPr id="13" name="TextBox 12"/>
          <p:cNvSpPr txBox="1"/>
          <p:nvPr/>
        </p:nvSpPr>
        <p:spPr>
          <a:xfrm>
            <a:off x="4258419" y="5440114"/>
            <a:ext cx="3239244" cy="171450"/>
          </a:xfrm>
          <a:prstGeom prst="rect">
            <a:avLst/>
          </a:prstGeom>
          <a:noFill/>
        </p:spPr>
        <p:txBody>
          <a:bodyPr wrap="square" lIns="0" tIns="0" rIns="0" bIns="0" anchor="t">
            <a:spAutoFit/>
          </a:bodyPr>
          <a:lstStyle/>
          <a:p>
            <a:pPr algn="ctr">
              <a:lnSpc>
                <a:spcPts val="1350"/>
              </a:lnSpc>
            </a:pPr>
            <a:r>
              <a:rPr sz="900" b="0" i="0" u="none">
                <a:solidFill>
                  <a:srgbClr val="475569"/>
                </a:solidFill>
                <a:latin typeface="Inter SemiBold"/>
              </a:rPr>
              <a:t>Trip Distance Distribution</a:t>
            </a:r>
          </a:p>
        </p:txBody>
      </p:sp>
      <p:sp>
        <p:nvSpPr>
          <p:cNvPr id="14" name="Rounded Rectangle 13"/>
          <p:cNvSpPr/>
          <p:nvPr/>
        </p:nvSpPr>
        <p:spPr>
          <a:xfrm>
            <a:off x="7773888" y="2735014"/>
            <a:ext cx="4227462" cy="2590800"/>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5" name="Table 14"/>
          <p:cNvGraphicFramePr>
            <a:graphicFrameLocks noGrp="1"/>
          </p:cNvGraphicFramePr>
          <p:nvPr/>
        </p:nvGraphicFramePr>
        <p:xfrm>
          <a:off x="7773888" y="2735014"/>
          <a:ext cx="4208411" cy="2590800"/>
        </p:xfrm>
        <a:graphic>
          <a:graphicData uri="http://schemas.openxmlformats.org/drawingml/2006/table">
            <a:tbl>
              <a:tblPr firstRow="1" bandRow="1">
                <a:tableStyleId>{5C22544A-7EE6-4342-B048-85BDC9FD1C3A}</a:tableStyleId>
              </a:tblPr>
              <a:tblGrid>
                <a:gridCol w="1001464">
                  <a:extLst>
                    <a:ext uri="{9D8B030D-6E8A-4147-A177-3AD203B41FA5}">
                      <a16:colId xmlns:a16="http://schemas.microsoft.com/office/drawing/2014/main" val="20000"/>
                    </a:ext>
                  </a:extLst>
                </a:gridCol>
                <a:gridCol w="1108620">
                  <a:extLst>
                    <a:ext uri="{9D8B030D-6E8A-4147-A177-3AD203B41FA5}">
                      <a16:colId xmlns:a16="http://schemas.microsoft.com/office/drawing/2014/main" val="20001"/>
                    </a:ext>
                  </a:extLst>
                </a:gridCol>
                <a:gridCol w="774799">
                  <a:extLst>
                    <a:ext uri="{9D8B030D-6E8A-4147-A177-3AD203B41FA5}">
                      <a16:colId xmlns:a16="http://schemas.microsoft.com/office/drawing/2014/main" val="20002"/>
                    </a:ext>
                  </a:extLst>
                </a:gridCol>
                <a:gridCol w="1323528">
                  <a:extLst>
                    <a:ext uri="{9D8B030D-6E8A-4147-A177-3AD203B41FA5}">
                      <a16:colId xmlns:a16="http://schemas.microsoft.com/office/drawing/2014/main" val="20003"/>
                    </a:ext>
                  </a:extLst>
                </a:gridCol>
              </a:tblGrid>
              <a:tr h="518160">
                <a:tc>
                  <a:txBody>
                    <a:bodyPr/>
                    <a:lstStyle/>
                    <a:p>
                      <a:pPr algn="l"/>
                      <a:r>
                        <a:rPr sz="1050" b="0" i="0" u="none">
                          <a:solidFill>
                            <a:srgbClr val="FFFFFF"/>
                          </a:solidFill>
                          <a:latin typeface="Poppins SemiBold"/>
                        </a:rPr>
                        <a:t>Metric</a:t>
                      </a:r>
                    </a:p>
                  </a:txBody>
                  <a:tcPr marL="63500" marR="63500" marT="25400" marB="25400" anchor="ctr">
                    <a:lnL>
                      <a:noFill/>
                    </a:lnL>
                    <a:lnR>
                      <a:noFill/>
                    </a:lnR>
                    <a:lnT>
                      <a:noFill/>
                    </a:lnT>
                    <a:lnB>
                      <a:noFill/>
                    </a:lnB>
                    <a:solidFill>
                      <a:srgbClr val="FA643F"/>
                    </a:solidFill>
                  </a:tcPr>
                </a:tc>
                <a:tc>
                  <a:txBody>
                    <a:bodyPr/>
                    <a:lstStyle/>
                    <a:p>
                      <a:pPr algn="l"/>
                      <a:r>
                        <a:rPr sz="1050" b="0" i="0" u="none">
                          <a:solidFill>
                            <a:srgbClr val="FFFFFF"/>
                          </a:solidFill>
                          <a:latin typeface="Poppins SemiBold"/>
                        </a:rPr>
                        <a:t>Payment Type</a:t>
                      </a:r>
                    </a:p>
                  </a:txBody>
                  <a:tcPr marL="63500" marR="63500" marT="25400" marB="25400" anchor="ctr">
                    <a:lnL>
                      <a:noFill/>
                    </a:lnL>
                    <a:lnR>
                      <a:noFill/>
                    </a:lnR>
                    <a:lnT>
                      <a:noFill/>
                    </a:lnT>
                    <a:lnB>
                      <a:noFill/>
                    </a:lnB>
                    <a:solidFill>
                      <a:srgbClr val="FA643F"/>
                    </a:solidFill>
                  </a:tcPr>
                </a:tc>
                <a:tc>
                  <a:txBody>
                    <a:bodyPr/>
                    <a:lstStyle/>
                    <a:p>
                      <a:pPr algn="l"/>
                      <a:r>
                        <a:rPr sz="1050" b="0" i="0" u="none">
                          <a:solidFill>
                            <a:srgbClr val="FFFFFF"/>
                          </a:solidFill>
                          <a:latin typeface="Poppins SemiBold"/>
                        </a:rPr>
                        <a:t>Mean</a:t>
                      </a:r>
                    </a:p>
                  </a:txBody>
                  <a:tcPr marL="63500" marR="63500" marT="25400" marB="25400" anchor="ctr">
                    <a:lnL>
                      <a:noFill/>
                    </a:lnL>
                    <a:lnR>
                      <a:noFill/>
                    </a:lnR>
                    <a:lnT>
                      <a:noFill/>
                    </a:lnT>
                    <a:lnB>
                      <a:noFill/>
                    </a:lnB>
                    <a:solidFill>
                      <a:srgbClr val="FA643F"/>
                    </a:solidFill>
                  </a:tcPr>
                </a:tc>
                <a:tc>
                  <a:txBody>
                    <a:bodyPr/>
                    <a:lstStyle/>
                    <a:p>
                      <a:pPr algn="l"/>
                      <a:r>
                        <a:rPr sz="1050" b="0" i="0" u="none">
                          <a:solidFill>
                            <a:srgbClr val="FFFFFF"/>
                          </a:solidFill>
                          <a:latin typeface="Poppins SemiBold"/>
                        </a:rPr>
                        <a:t>Standard Deviation</a:t>
                      </a:r>
                    </a:p>
                  </a:txBody>
                  <a:tcPr marL="63500" marR="63500" marT="25400" marB="25400" anchor="ctr">
                    <a:lnL>
                      <a:noFill/>
                    </a:lnL>
                    <a:lnR>
                      <a:noFill/>
                    </a:lnR>
                    <a:lnT>
                      <a:noFill/>
                    </a:lnT>
                    <a:lnB>
                      <a:noFill/>
                    </a:lnB>
                    <a:solidFill>
                      <a:srgbClr val="FA643F"/>
                    </a:solidFill>
                  </a:tcPr>
                </a:tc>
                <a:extLst>
                  <a:ext uri="{0D108BD9-81ED-4DB2-BD59-A6C34878D82A}">
                    <a16:rowId xmlns:a16="http://schemas.microsoft.com/office/drawing/2014/main" val="10000"/>
                  </a:ext>
                </a:extLst>
              </a:tr>
              <a:tr h="518160">
                <a:tc>
                  <a:txBody>
                    <a:bodyPr/>
                    <a:lstStyle/>
                    <a:p>
                      <a:pPr algn="l"/>
                      <a:r>
                        <a:rPr sz="1050" b="1" i="0" u="none">
                          <a:solidFill>
                            <a:srgbClr val="1E293B"/>
                          </a:solidFill>
                          <a:latin typeface="Inter"/>
                        </a:rPr>
                        <a:t>Fare amount</a:t>
                      </a:r>
                    </a:p>
                  </a:txBody>
                  <a:tcPr marL="63500" marR="63500" marT="25400" marB="25400" anchor="ctr">
                    <a:lnL>
                      <a:noFill/>
                    </a:lnL>
                    <a:lnR>
                      <a:noFill/>
                    </a:lnR>
                    <a:lnT>
                      <a:noFill/>
                    </a:lnT>
                    <a:lnB>
                      <a:noFill/>
                    </a:lnB>
                    <a:noFill/>
                  </a:tcPr>
                </a:tc>
                <a:tc>
                  <a:txBody>
                    <a:bodyPr/>
                    <a:lstStyle/>
                    <a:p>
                      <a:pPr algn="l"/>
                      <a:r>
                        <a:rPr sz="1050" b="0" i="0" u="none">
                          <a:solidFill>
                            <a:srgbClr val="1E293B"/>
                          </a:solidFill>
                          <a:latin typeface="Inter"/>
                        </a:rPr>
                        <a:t>Card</a:t>
                      </a:r>
                    </a:p>
                  </a:txBody>
                  <a:tcPr marL="63500" marR="63500" marT="25400" marB="25400" anchor="ctr">
                    <a:lnL>
                      <a:noFill/>
                    </a:lnL>
                    <a:lnR>
                      <a:noFill/>
                    </a:lnR>
                    <a:lnT>
                      <a:noFill/>
                    </a:lnT>
                    <a:lnB>
                      <a:noFill/>
                    </a:lnB>
                    <a:noFill/>
                  </a:tcPr>
                </a:tc>
                <a:tc>
                  <a:txBody>
                    <a:bodyPr/>
                    <a:lstStyle/>
                    <a:p>
                      <a:pPr algn="l"/>
                      <a:r>
                        <a:rPr sz="1050" b="1" i="0" u="none">
                          <a:solidFill>
                            <a:srgbClr val="FA643F"/>
                          </a:solidFill>
                          <a:latin typeface="Inter"/>
                        </a:rPr>
                        <a:t>$19.44</a:t>
                      </a:r>
                    </a:p>
                  </a:txBody>
                  <a:tcPr marL="63500" marR="63500" marT="25400" marB="25400" anchor="ctr">
                    <a:lnL>
                      <a:noFill/>
                    </a:lnL>
                    <a:lnR>
                      <a:noFill/>
                    </a:lnR>
                    <a:lnT>
                      <a:noFill/>
                    </a:lnT>
                    <a:lnB>
                      <a:noFill/>
                    </a:lnB>
                    <a:noFill/>
                  </a:tcPr>
                </a:tc>
                <a:tc>
                  <a:txBody>
                    <a:bodyPr/>
                    <a:lstStyle/>
                    <a:p>
                      <a:pPr algn="l"/>
                      <a:r>
                        <a:rPr sz="1050" b="0" i="0" u="none">
                          <a:solidFill>
                            <a:srgbClr val="1E293B"/>
                          </a:solidFill>
                          <a:latin typeface="Inter"/>
                        </a:rPr>
                        <a:t>$9.20</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518160">
                <a:tc>
                  <a:txBody>
                    <a:bodyPr/>
                    <a:lstStyle/>
                    <a:p>
                      <a:pPr algn="l"/>
                      <a:r>
                        <a:rPr sz="1050" b="0" i="0" u="none">
                          <a:solidFill>
                            <a:srgbClr val="1E293B"/>
                          </a:solidFill>
                          <a:latin typeface="Inter"/>
                        </a:rPr>
                        <a:t>Cash</a:t>
                      </a:r>
                    </a:p>
                  </a:txBody>
                  <a:tcPr marL="63500" marR="63500" marT="25400" marB="25400" anchor="ctr">
                    <a:lnL>
                      <a:noFill/>
                    </a:lnL>
                    <a:lnR>
                      <a:noFill/>
                    </a:lnR>
                    <a:lnT>
                      <a:noFill/>
                    </a:lnT>
                    <a:lnB>
                      <a:noFill/>
                    </a:lnB>
                    <a:solidFill>
                      <a:srgbClr val="FDFAF8"/>
                    </a:solidFill>
                  </a:tcPr>
                </a:tc>
                <a:tc>
                  <a:txBody>
                    <a:bodyPr/>
                    <a:lstStyle/>
                    <a:p>
                      <a:pPr algn="l"/>
                      <a:r>
                        <a:rPr sz="1050" b="0" i="0" u="none">
                          <a:solidFill>
                            <a:srgbClr val="1E293B"/>
                          </a:solidFill>
                          <a:latin typeface="Inter"/>
                        </a:rPr>
                        <a:t>$16.35</a:t>
                      </a:r>
                    </a:p>
                  </a:txBody>
                  <a:tcPr marL="63500" marR="63500" marT="25400" marB="25400" anchor="ctr">
                    <a:lnL>
                      <a:noFill/>
                    </a:lnL>
                    <a:lnR>
                      <a:noFill/>
                    </a:lnR>
                    <a:lnT>
                      <a:noFill/>
                    </a:lnT>
                    <a:lnB>
                      <a:noFill/>
                    </a:lnB>
                    <a:solidFill>
                      <a:srgbClr val="FDFAF8"/>
                    </a:solidFill>
                  </a:tcPr>
                </a:tc>
                <a:tc>
                  <a:txBody>
                    <a:bodyPr/>
                    <a:lstStyle/>
                    <a:p>
                      <a:pPr algn="l"/>
                      <a:r>
                        <a:rPr sz="1050" b="0" i="0" u="none">
                          <a:solidFill>
                            <a:srgbClr val="1E293B"/>
                          </a:solidFill>
                          <a:latin typeface="Inter"/>
                        </a:rPr>
                        <a:t>$9.11</a:t>
                      </a:r>
                    </a:p>
                  </a:txBody>
                  <a:tcPr marL="63500" marR="63500" marT="25400" marB="25400" anchor="ctr">
                    <a:lnL>
                      <a:noFill/>
                    </a:lnL>
                    <a:lnR>
                      <a:noFill/>
                    </a:lnR>
                    <a:lnT>
                      <a:noFill/>
                    </a:lnT>
                    <a:lnB>
                      <a:noFill/>
                    </a:lnB>
                    <a:solidFill>
                      <a:srgbClr val="FDFAF8"/>
                    </a:solidFill>
                  </a:tcPr>
                </a:tc>
                <a:tc>
                  <a:txBody>
                    <a:bodyPr/>
                    <a:lstStyle/>
                    <a:p>
                      <a:endParaRPr/>
                    </a:p>
                  </a:txBody>
                  <a:tcPr>
                    <a:lnL>
                      <a:noFill/>
                    </a:lnL>
                    <a:lnR>
                      <a:noFill/>
                    </a:lnR>
                    <a:lnT>
                      <a:noFill/>
                    </a:lnT>
                    <a:lnB>
                      <a:noFill/>
                    </a:lnB>
                  </a:tcPr>
                </a:tc>
                <a:extLst>
                  <a:ext uri="{0D108BD9-81ED-4DB2-BD59-A6C34878D82A}">
                    <a16:rowId xmlns:a16="http://schemas.microsoft.com/office/drawing/2014/main" val="10002"/>
                  </a:ext>
                </a:extLst>
              </a:tr>
              <a:tr h="518160">
                <a:tc>
                  <a:txBody>
                    <a:bodyPr/>
                    <a:lstStyle/>
                    <a:p>
                      <a:pPr algn="l"/>
                      <a:r>
                        <a:rPr sz="1050" b="1" i="0" u="none">
                          <a:solidFill>
                            <a:srgbClr val="1E293B"/>
                          </a:solidFill>
                          <a:latin typeface="Inter"/>
                        </a:rPr>
                        <a:t>Trip distance</a:t>
                      </a:r>
                    </a:p>
                  </a:txBody>
                  <a:tcPr marL="63500" marR="63500" marT="25400" marB="25400" anchor="ctr">
                    <a:lnL>
                      <a:noFill/>
                    </a:lnL>
                    <a:lnR>
                      <a:noFill/>
                    </a:lnR>
                    <a:lnT>
                      <a:noFill/>
                    </a:lnT>
                    <a:lnB>
                      <a:noFill/>
                    </a:lnB>
                    <a:noFill/>
                  </a:tcPr>
                </a:tc>
                <a:tc>
                  <a:txBody>
                    <a:bodyPr/>
                    <a:lstStyle/>
                    <a:p>
                      <a:pPr algn="l"/>
                      <a:r>
                        <a:rPr sz="1050" b="0" i="0" u="none">
                          <a:solidFill>
                            <a:srgbClr val="1E293B"/>
                          </a:solidFill>
                          <a:latin typeface="Inter"/>
                        </a:rPr>
                        <a:t>Card</a:t>
                      </a:r>
                    </a:p>
                  </a:txBody>
                  <a:tcPr marL="63500" marR="63500" marT="25400" marB="25400" anchor="ctr">
                    <a:lnL>
                      <a:noFill/>
                    </a:lnL>
                    <a:lnR>
                      <a:noFill/>
                    </a:lnR>
                    <a:lnT>
                      <a:noFill/>
                    </a:lnT>
                    <a:lnB>
                      <a:noFill/>
                    </a:lnB>
                    <a:noFill/>
                  </a:tcPr>
                </a:tc>
                <a:tc>
                  <a:txBody>
                    <a:bodyPr/>
                    <a:lstStyle/>
                    <a:p>
                      <a:pPr algn="l"/>
                      <a:r>
                        <a:rPr sz="1050" b="1" i="0" u="none">
                          <a:solidFill>
                            <a:srgbClr val="FA643F"/>
                          </a:solidFill>
                          <a:latin typeface="Inter"/>
                        </a:rPr>
                        <a:t>2.94 mi</a:t>
                      </a:r>
                    </a:p>
                  </a:txBody>
                  <a:tcPr marL="63500" marR="63500" marT="25400" marB="25400" anchor="ctr">
                    <a:lnL>
                      <a:noFill/>
                    </a:lnL>
                    <a:lnR>
                      <a:noFill/>
                    </a:lnR>
                    <a:lnT>
                      <a:noFill/>
                    </a:lnT>
                    <a:lnB>
                      <a:noFill/>
                    </a:lnB>
                    <a:noFill/>
                  </a:tcPr>
                </a:tc>
                <a:tc>
                  <a:txBody>
                    <a:bodyPr/>
                    <a:lstStyle/>
                    <a:p>
                      <a:pPr algn="l"/>
                      <a:r>
                        <a:rPr sz="1050" b="0" i="0" u="none">
                          <a:solidFill>
                            <a:srgbClr val="1E293B"/>
                          </a:solidFill>
                          <a:latin typeface="Inter"/>
                        </a:rPr>
                        <a:t>2.16 mi</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518160">
                <a:tc>
                  <a:txBody>
                    <a:bodyPr/>
                    <a:lstStyle/>
                    <a:p>
                      <a:pPr algn="l"/>
                      <a:r>
                        <a:rPr sz="1050" b="0" i="0" u="none">
                          <a:solidFill>
                            <a:srgbClr val="1E293B"/>
                          </a:solidFill>
                          <a:latin typeface="Inter"/>
                        </a:rPr>
                        <a:t>Cash</a:t>
                      </a:r>
                    </a:p>
                  </a:txBody>
                  <a:tcPr marL="63500" marR="63500" marT="25400" marB="25400" anchor="ctr">
                    <a:lnL>
                      <a:noFill/>
                    </a:lnL>
                    <a:lnR>
                      <a:noFill/>
                    </a:lnR>
                    <a:lnT>
                      <a:noFill/>
                    </a:lnT>
                    <a:lnB>
                      <a:noFill/>
                    </a:lnB>
                    <a:solidFill>
                      <a:srgbClr val="FDFAF8"/>
                    </a:solidFill>
                  </a:tcPr>
                </a:tc>
                <a:tc>
                  <a:txBody>
                    <a:bodyPr/>
                    <a:lstStyle/>
                    <a:p>
                      <a:pPr algn="l"/>
                      <a:r>
                        <a:rPr sz="1050" b="0" i="0" u="none">
                          <a:solidFill>
                            <a:srgbClr val="1E293B"/>
                          </a:solidFill>
                          <a:latin typeface="Inter"/>
                        </a:rPr>
                        <a:t>2.41 mi</a:t>
                      </a:r>
                    </a:p>
                  </a:txBody>
                  <a:tcPr marL="63500" marR="63500" marT="25400" marB="25400" anchor="ctr">
                    <a:lnL>
                      <a:noFill/>
                    </a:lnL>
                    <a:lnR>
                      <a:noFill/>
                    </a:lnR>
                    <a:lnT>
                      <a:noFill/>
                    </a:lnT>
                    <a:lnB>
                      <a:noFill/>
                    </a:lnB>
                    <a:solidFill>
                      <a:srgbClr val="FDFAF8"/>
                    </a:solidFill>
                  </a:tcPr>
                </a:tc>
                <a:tc>
                  <a:txBody>
                    <a:bodyPr/>
                    <a:lstStyle/>
                    <a:p>
                      <a:pPr algn="l"/>
                      <a:r>
                        <a:rPr sz="1050" b="0" i="0" u="none">
                          <a:solidFill>
                            <a:srgbClr val="1E293B"/>
                          </a:solidFill>
                          <a:latin typeface="Inter"/>
                        </a:rPr>
                        <a:t>2.14 mi</a:t>
                      </a:r>
                    </a:p>
                  </a:txBody>
                  <a:tcPr marL="63500" marR="63500" marT="25400" marB="25400" anchor="ctr">
                    <a:lnL>
                      <a:noFill/>
                    </a:lnL>
                    <a:lnR>
                      <a:noFill/>
                    </a:lnR>
                    <a:lnT>
                      <a:noFill/>
                    </a:lnT>
                    <a:lnB>
                      <a:noFill/>
                    </a:lnB>
                    <a:solidFill>
                      <a:srgbClr val="FDFAF8"/>
                    </a:solidFill>
                  </a:tcPr>
                </a:tc>
                <a:tc>
                  <a:txBody>
                    <a:bodyPr/>
                    <a:lstStyle/>
                    <a:p>
                      <a:endParaRPr/>
                    </a:p>
                  </a:txBody>
                  <a:tcPr>
                    <a:lnL>
                      <a:noFill/>
                    </a:lnL>
                    <a:lnR>
                      <a:noFill/>
                    </a:lnR>
                    <a:lnT>
                      <a:noFill/>
                    </a:lnT>
                    <a:lnB>
                      <a:noFill/>
                    </a:lnB>
                  </a:tcPr>
                </a:tc>
                <a:extLst>
                  <a:ext uri="{0D108BD9-81ED-4DB2-BD59-A6C34878D82A}">
                    <a16:rowId xmlns:a16="http://schemas.microsoft.com/office/drawing/2014/main" val="10004"/>
                  </a:ext>
                </a:extLst>
              </a:tr>
            </a:tbl>
          </a:graphicData>
        </a:graphic>
      </p:graphicFrame>
      <p:sp>
        <p:nvSpPr>
          <p:cNvPr id="16" name="TextBox 15"/>
          <p:cNvSpPr txBox="1"/>
          <p:nvPr/>
        </p:nvSpPr>
        <p:spPr>
          <a:xfrm>
            <a:off x="609600" y="1739651"/>
            <a:ext cx="95250" cy="304800"/>
          </a:xfrm>
          <a:prstGeom prst="rect">
            <a:avLst/>
          </a:prstGeom>
          <a:noFill/>
        </p:spPr>
        <p:txBody>
          <a:bodyPr wrap="square" lIns="0" tIns="0" rIns="0" bIns="0" anchor="t">
            <a:spAutoFit/>
          </a:bodyPr>
          <a:lstStyle/>
          <a:p>
            <a:pPr algn="l">
              <a:lnSpc>
                <a:spcPts val="2392"/>
              </a:lnSpc>
            </a:pPr>
            <a:r>
              <a:rPr sz="1650" b="1" i="0" u="none">
                <a:solidFill>
                  <a:srgbClr val="FA643F"/>
                </a:solidFill>
                <a:latin typeface="Inter"/>
              </a:rPr>
              <a:t>•</a:t>
            </a:r>
          </a:p>
        </p:txBody>
      </p:sp>
      <p:sp>
        <p:nvSpPr>
          <p:cNvPr id="17" name="TextBox 16"/>
          <p:cNvSpPr txBox="1"/>
          <p:nvPr/>
        </p:nvSpPr>
        <p:spPr>
          <a:xfrm>
            <a:off x="609600" y="2003970"/>
            <a:ext cx="95250" cy="304800"/>
          </a:xfrm>
          <a:prstGeom prst="rect">
            <a:avLst/>
          </a:prstGeom>
          <a:noFill/>
        </p:spPr>
        <p:txBody>
          <a:bodyPr wrap="square" lIns="0" tIns="0" rIns="0" bIns="0" anchor="t">
            <a:spAutoFit/>
          </a:bodyPr>
          <a:lstStyle/>
          <a:p>
            <a:pPr algn="l">
              <a:lnSpc>
                <a:spcPts val="2392"/>
              </a:lnSpc>
            </a:pPr>
            <a:r>
              <a:rPr sz="1650" b="1" i="0" u="none">
                <a:solidFill>
                  <a:srgbClr val="FA643F"/>
                </a:solidFill>
                <a:latin typeface="Inter"/>
              </a:rPr>
              <a:t>•</a:t>
            </a:r>
          </a:p>
        </p:txBody>
      </p:sp>
      <p:pic>
        <p:nvPicPr>
          <p:cNvPr id="18" name="Picture 17" descr="image.png"/>
          <p:cNvPicPr>
            <a:picLocks noChangeAspect="1"/>
          </p:cNvPicPr>
          <p:nvPr/>
        </p:nvPicPr>
        <p:blipFill>
          <a:blip r:embed="rId7"/>
          <a:stretch>
            <a:fillRect/>
          </a:stretch>
        </p:blipFill>
        <p:spPr>
          <a:xfrm>
            <a:off x="638175" y="2449264"/>
            <a:ext cx="3239244" cy="2952750"/>
          </a:xfrm>
          <a:prstGeom prst="rect">
            <a:avLst/>
          </a:prstGeom>
        </p:spPr>
      </p:pic>
      <p:pic>
        <p:nvPicPr>
          <p:cNvPr id="19" name="Picture 18" descr="image.png"/>
          <p:cNvPicPr>
            <a:picLocks noChangeAspect="1"/>
          </p:cNvPicPr>
          <p:nvPr/>
        </p:nvPicPr>
        <p:blipFill>
          <a:blip r:embed="rId8"/>
          <a:stretch>
            <a:fillRect/>
          </a:stretch>
        </p:blipFill>
        <p:spPr>
          <a:xfrm>
            <a:off x="4258419" y="2449264"/>
            <a:ext cx="3239244" cy="2952750"/>
          </a:xfrm>
          <a:prstGeom prst="rect">
            <a:avLst/>
          </a:prstGeom>
        </p:spPr>
      </p:pic>
      <p:sp>
        <p:nvSpPr>
          <p:cNvPr id="20" name="Rectangle 19"/>
          <p:cNvSpPr/>
          <p:nvPr/>
        </p:nvSpPr>
        <p:spPr>
          <a:xfrm>
            <a:off x="7783413" y="4239964"/>
            <a:ext cx="1001464"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784877" y="3801814"/>
            <a:ext cx="1108620"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893498" y="3801814"/>
            <a:ext cx="774799"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0668297" y="3801814"/>
            <a:ext cx="1323528"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784877" y="4239964"/>
            <a:ext cx="1108620"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893498" y="4239964"/>
            <a:ext cx="774799"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0668297" y="4239964"/>
            <a:ext cx="1323528"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783413" y="5306764"/>
            <a:ext cx="1001464"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784877" y="4878139"/>
            <a:ext cx="1108620"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893498" y="4878139"/>
            <a:ext cx="774799"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0668297" y="4878139"/>
            <a:ext cx="1323528"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33400" y="419100"/>
            <a:ext cx="11658600" cy="388590"/>
          </a:xfrm>
          <a:prstGeom prst="rect">
            <a:avLst/>
          </a:prstGeom>
          <a:noFill/>
        </p:spPr>
        <p:txBody>
          <a:bodyPr wrap="square" lIns="0" tIns="0" rIns="0" bIns="0" anchor="t">
            <a:spAutoFit/>
          </a:bodyPr>
          <a:lstStyle/>
          <a:p>
            <a:pPr algn="l">
              <a:lnSpc>
                <a:spcPts val="3060"/>
              </a:lnSpc>
            </a:pPr>
            <a:r>
              <a:rPr sz="2550" b="1" i="0" u="none">
                <a:solidFill>
                  <a:srgbClr val="0F172A"/>
                </a:solidFill>
                <a:latin typeface="Poppins"/>
              </a:rPr>
              <a:t>Journey Insights</a:t>
            </a:r>
          </a:p>
        </p:txBody>
      </p:sp>
      <p:sp>
        <p:nvSpPr>
          <p:cNvPr id="32" name="Rounded Rectangle 31"/>
          <p:cNvSpPr/>
          <p:nvPr/>
        </p:nvSpPr>
        <p:spPr>
          <a:xfrm>
            <a:off x="5791200" y="594345"/>
            <a:ext cx="609600" cy="38100"/>
          </a:xfrm>
          <a:prstGeom prst="roundRect">
            <a:avLst>
              <a:gd name="adj" fmla="val 50000"/>
            </a:avLst>
          </a:prstGeom>
          <a:solidFill>
            <a:srgbClr val="FA64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1784895"/>
            <a:ext cx="5117455" cy="3905250"/>
          </a:xfrm>
          <a:prstGeom prst="rect">
            <a:avLst/>
          </a:prstGeom>
        </p:spPr>
      </p:pic>
      <p:pic>
        <p:nvPicPr>
          <p:cNvPr id="4" name="Picture 3" descr="image.png"/>
          <p:cNvPicPr>
            <a:picLocks noChangeAspect="1"/>
          </p:cNvPicPr>
          <p:nvPr/>
        </p:nvPicPr>
        <p:blipFill>
          <a:blip r:embed="rId4"/>
          <a:stretch>
            <a:fillRect/>
          </a:stretch>
        </p:blipFill>
        <p:spPr>
          <a:xfrm>
            <a:off x="676275" y="1927770"/>
            <a:ext cx="4831705" cy="3619500"/>
          </a:xfrm>
          <a:prstGeom prst="rect">
            <a:avLst/>
          </a:prstGeom>
        </p:spPr>
      </p:pic>
      <p:pic>
        <p:nvPicPr>
          <p:cNvPr id="5" name="Picture 4" descr="image.png"/>
          <p:cNvPicPr>
            <a:picLocks noChangeAspect="1"/>
          </p:cNvPicPr>
          <p:nvPr/>
        </p:nvPicPr>
        <p:blipFill>
          <a:blip r:embed="rId5"/>
          <a:stretch>
            <a:fillRect/>
          </a:stretch>
        </p:blipFill>
        <p:spPr>
          <a:xfrm>
            <a:off x="5955655" y="2005161"/>
            <a:ext cx="6007596" cy="1169491"/>
          </a:xfrm>
          <a:prstGeom prst="rect">
            <a:avLst/>
          </a:prstGeom>
        </p:spPr>
      </p:pic>
      <p:pic>
        <p:nvPicPr>
          <p:cNvPr id="6" name="Picture 5" descr="image.png"/>
          <p:cNvPicPr>
            <a:picLocks noChangeAspect="1"/>
          </p:cNvPicPr>
          <p:nvPr/>
        </p:nvPicPr>
        <p:blipFill>
          <a:blip r:embed="rId6"/>
          <a:stretch>
            <a:fillRect/>
          </a:stretch>
        </p:blipFill>
        <p:spPr>
          <a:xfrm>
            <a:off x="5955655" y="3346102"/>
            <a:ext cx="6007596" cy="1146720"/>
          </a:xfrm>
          <a:prstGeom prst="rect">
            <a:avLst/>
          </a:prstGeom>
        </p:spPr>
      </p:pic>
      <p:pic>
        <p:nvPicPr>
          <p:cNvPr id="7" name="Picture 6" descr="image.png"/>
          <p:cNvPicPr>
            <a:picLocks noChangeAspect="1"/>
          </p:cNvPicPr>
          <p:nvPr/>
        </p:nvPicPr>
        <p:blipFill>
          <a:blip r:embed="rId7"/>
          <a:stretch>
            <a:fillRect/>
          </a:stretch>
        </p:blipFill>
        <p:spPr>
          <a:xfrm>
            <a:off x="5955655" y="4664273"/>
            <a:ext cx="6007596" cy="805755"/>
          </a:xfrm>
          <a:prstGeom prst="rect">
            <a:avLst/>
          </a:prstGeom>
        </p:spPr>
      </p:pic>
      <p:pic>
        <p:nvPicPr>
          <p:cNvPr id="8" name="Picture 7" descr="image.png"/>
          <p:cNvPicPr>
            <a:picLocks noChangeAspect="1"/>
          </p:cNvPicPr>
          <p:nvPr/>
        </p:nvPicPr>
        <p:blipFill>
          <a:blip r:embed="rId8"/>
          <a:stretch>
            <a:fillRect/>
          </a:stretch>
        </p:blipFill>
        <p:spPr>
          <a:xfrm>
            <a:off x="533400" y="6367462"/>
            <a:ext cx="11125200" cy="300037"/>
          </a:xfrm>
          <a:prstGeom prst="rect">
            <a:avLst/>
          </a:prstGeom>
        </p:spPr>
      </p:pic>
      <p:sp>
        <p:nvSpPr>
          <p:cNvPr id="9" name="TextBox 8"/>
          <p:cNvSpPr txBox="1"/>
          <p:nvPr/>
        </p:nvSpPr>
        <p:spPr>
          <a:xfrm>
            <a:off x="533400" y="6453187"/>
            <a:ext cx="3267075"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Market Share &amp; Channel Preference Breakdown</a:t>
            </a:r>
          </a:p>
        </p:txBody>
      </p:sp>
      <p:sp>
        <p:nvSpPr>
          <p:cNvPr id="10" name="TextBox 9"/>
          <p:cNvSpPr txBox="1"/>
          <p:nvPr/>
        </p:nvSpPr>
        <p:spPr>
          <a:xfrm>
            <a:off x="10953750" y="6453187"/>
            <a:ext cx="704850"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Slide 8 / 11</a:t>
            </a:r>
          </a:p>
        </p:txBody>
      </p:sp>
      <p:pic>
        <p:nvPicPr>
          <p:cNvPr id="11" name="Picture 10" descr="image.png"/>
          <p:cNvPicPr>
            <a:picLocks noChangeAspect="1"/>
          </p:cNvPicPr>
          <p:nvPr/>
        </p:nvPicPr>
        <p:blipFill>
          <a:blip r:embed="rId9"/>
          <a:stretch>
            <a:fillRect/>
          </a:stretch>
        </p:blipFill>
        <p:spPr>
          <a:xfrm>
            <a:off x="676275" y="1927770"/>
            <a:ext cx="4831705" cy="3619500"/>
          </a:xfrm>
          <a:prstGeom prst="rect">
            <a:avLst/>
          </a:prstGeom>
        </p:spPr>
      </p:pic>
      <p:sp>
        <p:nvSpPr>
          <p:cNvPr id="12" name="TextBox 11"/>
          <p:cNvSpPr txBox="1"/>
          <p:nvPr/>
        </p:nvSpPr>
        <p:spPr>
          <a:xfrm>
            <a:off x="6203305" y="2224236"/>
            <a:ext cx="5540871" cy="731341"/>
          </a:xfrm>
          <a:prstGeom prst="rect">
            <a:avLst/>
          </a:prstGeom>
          <a:noFill/>
        </p:spPr>
        <p:txBody>
          <a:bodyPr wrap="square" lIns="0" tIns="0" rIns="0" bIns="0" anchor="t">
            <a:spAutoFit/>
          </a:bodyPr>
          <a:lstStyle/>
          <a:p>
            <a:pPr algn="l">
              <a:lnSpc>
                <a:spcPts val="1920"/>
              </a:lnSpc>
            </a:pPr>
            <a:r>
              <a:rPr sz="1200" b="0" i="0" u="none">
                <a:solidFill>
                  <a:srgbClr val="1E293B"/>
                </a:solidFill>
                <a:latin typeface="Inter"/>
              </a:rPr>
              <a:t>The proportion of customers paying with cards is significantly higher than those paying with cash, with </a:t>
            </a:r>
            <a:r>
              <a:rPr sz="1200" b="1" i="0" u="none">
                <a:solidFill>
                  <a:srgbClr val="1E293B"/>
                </a:solidFill>
                <a:latin typeface="Inter"/>
              </a:rPr>
              <a:t>card payments accounting for 82.9%</a:t>
            </a:r>
            <a:r>
              <a:rPr sz="1200" b="0" i="0" u="none">
                <a:solidFill>
                  <a:srgbClr val="1E293B"/>
                </a:solidFill>
                <a:latin typeface="Inter"/>
              </a:rPr>
              <a:t> of all transactions compared to cash payments at </a:t>
            </a:r>
            <a:r>
              <a:rPr sz="1200" b="1" i="0" u="none">
                <a:solidFill>
                  <a:srgbClr val="1E293B"/>
                </a:solidFill>
                <a:latin typeface="Inter"/>
              </a:rPr>
              <a:t>17.1%</a:t>
            </a:r>
            <a:r>
              <a:rPr sz="1200" b="0" i="0" u="none">
                <a:solidFill>
                  <a:srgbClr val="1E293B"/>
                </a:solidFill>
                <a:latin typeface="Inter"/>
              </a:rPr>
              <a:t>.</a:t>
            </a:r>
          </a:p>
        </p:txBody>
      </p:sp>
      <p:sp>
        <p:nvSpPr>
          <p:cNvPr id="13" name="TextBox 12"/>
          <p:cNvSpPr txBox="1"/>
          <p:nvPr/>
        </p:nvSpPr>
        <p:spPr>
          <a:xfrm>
            <a:off x="6203305" y="3565177"/>
            <a:ext cx="5540871" cy="708570"/>
          </a:xfrm>
          <a:prstGeom prst="rect">
            <a:avLst/>
          </a:prstGeom>
          <a:noFill/>
        </p:spPr>
        <p:txBody>
          <a:bodyPr wrap="square" lIns="0" tIns="0" rIns="0" bIns="0" anchor="t">
            <a:spAutoFit/>
          </a:bodyPr>
          <a:lstStyle/>
          <a:p>
            <a:pPr algn="l">
              <a:lnSpc>
                <a:spcPts val="1860"/>
              </a:lnSpc>
            </a:pPr>
            <a:r>
              <a:rPr sz="1162" b="0" i="0" u="none">
                <a:solidFill>
                  <a:srgbClr val="334155"/>
                </a:solidFill>
                <a:latin typeface="Inter"/>
              </a:rPr>
              <a:t>This indicates a strong preference among customers for using card payments over cash, potentially due to convenience, security, or corporate expense habits.</a:t>
            </a:r>
          </a:p>
        </p:txBody>
      </p:sp>
      <p:sp>
        <p:nvSpPr>
          <p:cNvPr id="14" name="TextBox 13"/>
          <p:cNvSpPr txBox="1"/>
          <p:nvPr/>
        </p:nvSpPr>
        <p:spPr>
          <a:xfrm>
            <a:off x="6155680" y="4854773"/>
            <a:ext cx="5607546" cy="272355"/>
          </a:xfrm>
          <a:prstGeom prst="rect">
            <a:avLst/>
          </a:prstGeom>
          <a:noFill/>
        </p:spPr>
        <p:txBody>
          <a:bodyPr wrap="square" lIns="0" tIns="0" rIns="0" bIns="0" anchor="t">
            <a:spAutoFit/>
          </a:bodyPr>
          <a:lstStyle/>
          <a:p>
            <a:pPr algn="l">
              <a:lnSpc>
                <a:spcPts val="2145"/>
              </a:lnSpc>
            </a:pPr>
            <a:r>
              <a:rPr sz="1950" b="1" i="0" u="none">
                <a:solidFill>
                  <a:srgbClr val="FA643F"/>
                </a:solidFill>
                <a:latin typeface="Poppins"/>
              </a:rPr>
              <a:t>+$3.09 per ride</a:t>
            </a:r>
          </a:p>
        </p:txBody>
      </p:sp>
      <p:sp>
        <p:nvSpPr>
          <p:cNvPr id="15" name="TextBox 14"/>
          <p:cNvSpPr txBox="1"/>
          <p:nvPr/>
        </p:nvSpPr>
        <p:spPr>
          <a:xfrm>
            <a:off x="6155680" y="5165228"/>
            <a:ext cx="5607546" cy="142875"/>
          </a:xfrm>
          <a:prstGeom prst="rect">
            <a:avLst/>
          </a:prstGeom>
          <a:noFill/>
        </p:spPr>
        <p:txBody>
          <a:bodyPr wrap="square" lIns="0" tIns="0" rIns="0" bIns="0" anchor="t">
            <a:spAutoFit/>
          </a:bodyPr>
          <a:lstStyle/>
          <a:p>
            <a:pPr algn="l"/>
            <a:r>
              <a:rPr sz="900" b="0" i="0" u="none">
                <a:solidFill>
                  <a:srgbClr val="64748B"/>
                </a:solidFill>
                <a:latin typeface="Inter SemiBold"/>
              </a:rPr>
              <a:t>DRIVER REVENUE LIFT ON CARD TRANSACTIONS (+18.9%)</a:t>
            </a:r>
          </a:p>
        </p:txBody>
      </p:sp>
      <p:sp>
        <p:nvSpPr>
          <p:cNvPr id="16" name="TextBox 15"/>
          <p:cNvSpPr txBox="1"/>
          <p:nvPr/>
        </p:nvSpPr>
        <p:spPr>
          <a:xfrm>
            <a:off x="533400" y="419100"/>
            <a:ext cx="11658600" cy="388590"/>
          </a:xfrm>
          <a:prstGeom prst="rect">
            <a:avLst/>
          </a:prstGeom>
          <a:noFill/>
        </p:spPr>
        <p:txBody>
          <a:bodyPr wrap="square" lIns="0" tIns="0" rIns="0" bIns="0" anchor="t">
            <a:spAutoFit/>
          </a:bodyPr>
          <a:lstStyle/>
          <a:p>
            <a:pPr algn="l">
              <a:lnSpc>
                <a:spcPts val="3060"/>
              </a:lnSpc>
            </a:pPr>
            <a:r>
              <a:rPr sz="2550" b="1" i="0" u="none">
                <a:solidFill>
                  <a:srgbClr val="0F172A"/>
                </a:solidFill>
                <a:latin typeface="Poppins"/>
              </a:rPr>
              <a:t>Preference of Payment Types</a:t>
            </a:r>
          </a:p>
        </p:txBody>
      </p:sp>
      <p:sp>
        <p:nvSpPr>
          <p:cNvPr id="17" name="Rounded Rectangle 16"/>
          <p:cNvSpPr/>
          <p:nvPr/>
        </p:nvSpPr>
        <p:spPr>
          <a:xfrm>
            <a:off x="5791200" y="594345"/>
            <a:ext cx="609600" cy="38100"/>
          </a:xfrm>
          <a:prstGeom prst="roundRect">
            <a:avLst>
              <a:gd name="adj" fmla="val 50000"/>
            </a:avLst>
          </a:prstGeom>
          <a:solidFill>
            <a:srgbClr val="FA64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1803945"/>
            <a:ext cx="5785098" cy="3867150"/>
          </a:xfrm>
          <a:prstGeom prst="rect">
            <a:avLst/>
          </a:prstGeom>
        </p:spPr>
      </p:pic>
      <p:pic>
        <p:nvPicPr>
          <p:cNvPr id="4" name="Picture 3" descr="image.png"/>
          <p:cNvPicPr>
            <a:picLocks noChangeAspect="1"/>
          </p:cNvPicPr>
          <p:nvPr/>
        </p:nvPicPr>
        <p:blipFill>
          <a:blip r:embed="rId4"/>
          <a:stretch>
            <a:fillRect/>
          </a:stretch>
        </p:blipFill>
        <p:spPr>
          <a:xfrm>
            <a:off x="657225" y="1927770"/>
            <a:ext cx="5537448" cy="3619500"/>
          </a:xfrm>
          <a:prstGeom prst="rect">
            <a:avLst/>
          </a:prstGeom>
        </p:spPr>
      </p:pic>
      <p:pic>
        <p:nvPicPr>
          <p:cNvPr id="5" name="Picture 4" descr="image.png"/>
          <p:cNvPicPr>
            <a:picLocks noChangeAspect="1"/>
          </p:cNvPicPr>
          <p:nvPr/>
        </p:nvPicPr>
        <p:blipFill>
          <a:blip r:embed="rId5"/>
          <a:stretch>
            <a:fillRect/>
          </a:stretch>
        </p:blipFill>
        <p:spPr>
          <a:xfrm>
            <a:off x="533400" y="6367462"/>
            <a:ext cx="11125200" cy="300037"/>
          </a:xfrm>
          <a:prstGeom prst="rect">
            <a:avLst/>
          </a:prstGeom>
        </p:spPr>
      </p:pic>
      <p:sp>
        <p:nvSpPr>
          <p:cNvPr id="6" name="TextBox 5"/>
          <p:cNvSpPr txBox="1"/>
          <p:nvPr/>
        </p:nvSpPr>
        <p:spPr>
          <a:xfrm>
            <a:off x="533400" y="6453187"/>
            <a:ext cx="2924175"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Confounder Analysis on Passenger Groups</a:t>
            </a:r>
          </a:p>
        </p:txBody>
      </p:sp>
      <p:sp>
        <p:nvSpPr>
          <p:cNvPr id="7" name="TextBox 6"/>
          <p:cNvSpPr txBox="1"/>
          <p:nvPr/>
        </p:nvSpPr>
        <p:spPr>
          <a:xfrm>
            <a:off x="10953750" y="6453187"/>
            <a:ext cx="704850"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Slide 9 / 11</a:t>
            </a:r>
          </a:p>
        </p:txBody>
      </p:sp>
      <p:pic>
        <p:nvPicPr>
          <p:cNvPr id="8" name="Picture 7" descr="image.png"/>
          <p:cNvPicPr>
            <a:picLocks noChangeAspect="1"/>
          </p:cNvPicPr>
          <p:nvPr/>
        </p:nvPicPr>
        <p:blipFill>
          <a:blip r:embed="rId6"/>
          <a:stretch>
            <a:fillRect/>
          </a:stretch>
        </p:blipFill>
        <p:spPr>
          <a:xfrm>
            <a:off x="657225" y="1927770"/>
            <a:ext cx="5537448" cy="3619500"/>
          </a:xfrm>
          <a:prstGeom prst="rect">
            <a:avLst/>
          </a:prstGeom>
        </p:spPr>
      </p:pic>
      <p:sp>
        <p:nvSpPr>
          <p:cNvPr id="9" name="TextBox 8"/>
          <p:cNvSpPr txBox="1"/>
          <p:nvPr/>
        </p:nvSpPr>
        <p:spPr>
          <a:xfrm>
            <a:off x="6813798" y="2417117"/>
            <a:ext cx="5073253" cy="640556"/>
          </a:xfrm>
          <a:prstGeom prst="rect">
            <a:avLst/>
          </a:prstGeom>
          <a:noFill/>
        </p:spPr>
        <p:txBody>
          <a:bodyPr wrap="square" lIns="0" tIns="0" rIns="0" bIns="0" anchor="t">
            <a:spAutoFit/>
          </a:bodyPr>
          <a:lstStyle/>
          <a:p>
            <a:pPr algn="l">
              <a:lnSpc>
                <a:spcPts val="1631"/>
              </a:lnSpc>
            </a:pPr>
            <a:r>
              <a:rPr sz="1125" b="0" i="0" u="none">
                <a:solidFill>
                  <a:srgbClr val="334155"/>
                </a:solidFill>
                <a:latin typeface="Inter"/>
              </a:rPr>
              <a:t>Among card payments, rides with a single passenger (passenger_count = 1) comprise the largest proportion, constituting </a:t>
            </a:r>
            <a:r>
              <a:rPr sz="1125" b="1" i="0" u="none">
                <a:solidFill>
                  <a:srgbClr val="334155"/>
                </a:solidFill>
                <a:latin typeface="Inter"/>
              </a:rPr>
              <a:t>61.3% of all card transactions</a:t>
            </a:r>
            <a:r>
              <a:rPr sz="1125" b="0" i="0" u="none">
                <a:solidFill>
                  <a:srgbClr val="334155"/>
                </a:solidFill>
                <a:latin typeface="Inter"/>
              </a:rPr>
              <a:t> (and 13.1% for cash).</a:t>
            </a:r>
          </a:p>
        </p:txBody>
      </p:sp>
      <p:sp>
        <p:nvSpPr>
          <p:cNvPr id="10" name="TextBox 9"/>
          <p:cNvSpPr txBox="1"/>
          <p:nvPr/>
        </p:nvSpPr>
        <p:spPr>
          <a:xfrm>
            <a:off x="6813798" y="3171973"/>
            <a:ext cx="5073253" cy="414337"/>
          </a:xfrm>
          <a:prstGeom prst="rect">
            <a:avLst/>
          </a:prstGeom>
          <a:noFill/>
        </p:spPr>
        <p:txBody>
          <a:bodyPr wrap="square" lIns="0" tIns="0" rIns="0" bIns="0" anchor="t">
            <a:spAutoFit/>
          </a:bodyPr>
          <a:lstStyle/>
          <a:p>
            <a:pPr algn="l">
              <a:lnSpc>
                <a:spcPts val="1631"/>
              </a:lnSpc>
            </a:pPr>
            <a:r>
              <a:rPr sz="1125" b="0" i="0" u="none">
                <a:solidFill>
                  <a:srgbClr val="334155"/>
                </a:solidFill>
                <a:latin typeface="Inter"/>
              </a:rPr>
              <a:t>Similarly, two-passenger rides represent 14.8% Card vs. 2.7% Cash, while larger groups (3 to 6) decrease rapidly.</a:t>
            </a:r>
          </a:p>
        </p:txBody>
      </p:sp>
      <p:sp>
        <p:nvSpPr>
          <p:cNvPr id="11" name="TextBox 10"/>
          <p:cNvSpPr txBox="1"/>
          <p:nvPr/>
        </p:nvSpPr>
        <p:spPr>
          <a:xfrm>
            <a:off x="6813798" y="3700611"/>
            <a:ext cx="5073253" cy="621506"/>
          </a:xfrm>
          <a:prstGeom prst="rect">
            <a:avLst/>
          </a:prstGeom>
          <a:noFill/>
        </p:spPr>
        <p:txBody>
          <a:bodyPr wrap="square" lIns="0" tIns="0" rIns="0" bIns="0" anchor="t">
            <a:spAutoFit/>
          </a:bodyPr>
          <a:lstStyle/>
          <a:p>
            <a:pPr algn="l">
              <a:lnSpc>
                <a:spcPts val="1631"/>
              </a:lnSpc>
            </a:pPr>
            <a:r>
              <a:rPr sz="1125" b="0" i="0" u="none">
                <a:solidFill>
                  <a:srgbClr val="334155"/>
                </a:solidFill>
                <a:latin typeface="Inter"/>
              </a:rPr>
              <a:t>There is a noticeable decrease in the percentage of transactions as passenger count increases, with 5 and 6 passenger trips accounting for under </a:t>
            </a:r>
            <a:r>
              <a:rPr sz="1125" b="1" i="0" u="none">
                <a:solidFill>
                  <a:srgbClr val="334155"/>
                </a:solidFill>
                <a:latin typeface="Inter"/>
              </a:rPr>
              <a:t>1%</a:t>
            </a:r>
            <a:r>
              <a:rPr sz="1125" b="0" i="0" u="none">
                <a:solidFill>
                  <a:srgbClr val="334155"/>
                </a:solidFill>
                <a:latin typeface="Inter"/>
              </a:rPr>
              <a:t> of total volume.</a:t>
            </a:r>
          </a:p>
        </p:txBody>
      </p:sp>
      <p:sp>
        <p:nvSpPr>
          <p:cNvPr id="12" name="TextBox 11"/>
          <p:cNvSpPr txBox="1"/>
          <p:nvPr/>
        </p:nvSpPr>
        <p:spPr>
          <a:xfrm>
            <a:off x="6813798" y="4436417"/>
            <a:ext cx="5073253" cy="621506"/>
          </a:xfrm>
          <a:prstGeom prst="rect">
            <a:avLst/>
          </a:prstGeom>
          <a:noFill/>
        </p:spPr>
        <p:txBody>
          <a:bodyPr wrap="square" lIns="0" tIns="0" rIns="0" bIns="0" anchor="t">
            <a:spAutoFit/>
          </a:bodyPr>
          <a:lstStyle/>
          <a:p>
            <a:pPr algn="l">
              <a:lnSpc>
                <a:spcPts val="1631"/>
              </a:lnSpc>
            </a:pPr>
            <a:r>
              <a:rPr sz="1125" b="1" i="0" u="none">
                <a:solidFill>
                  <a:srgbClr val="334155"/>
                </a:solidFill>
                <a:latin typeface="Inter"/>
              </a:rPr>
              <a:t>Key Confounder Takeaway:</a:t>
            </a:r>
            <a:r>
              <a:rPr sz="1125" b="0" i="0" u="none">
                <a:solidFill>
                  <a:srgbClr val="334155"/>
                </a:solidFill>
                <a:latin typeface="Inter"/>
              </a:rPr>
              <a:t> Payment preference ratios remain fixed (~5:1) across all party sizes, confirming party size does not bias fare differences.</a:t>
            </a:r>
          </a:p>
        </p:txBody>
      </p:sp>
      <p:sp>
        <p:nvSpPr>
          <p:cNvPr id="13" name="TextBox 12"/>
          <p:cNvSpPr txBox="1"/>
          <p:nvPr/>
        </p:nvSpPr>
        <p:spPr>
          <a:xfrm>
            <a:off x="6623298" y="2398067"/>
            <a:ext cx="95250" cy="304800"/>
          </a:xfrm>
          <a:prstGeom prst="rect">
            <a:avLst/>
          </a:prstGeom>
          <a:noFill/>
        </p:spPr>
        <p:txBody>
          <a:bodyPr wrap="square" lIns="0" tIns="0" rIns="0" bIns="0" anchor="t">
            <a:spAutoFit/>
          </a:bodyPr>
          <a:lstStyle/>
          <a:p>
            <a:pPr algn="l">
              <a:lnSpc>
                <a:spcPts val="2392"/>
              </a:lnSpc>
            </a:pPr>
            <a:r>
              <a:rPr sz="1650" b="1" i="0" u="none">
                <a:solidFill>
                  <a:srgbClr val="FA643F"/>
                </a:solidFill>
                <a:latin typeface="Inter"/>
              </a:rPr>
              <a:t>•</a:t>
            </a:r>
          </a:p>
        </p:txBody>
      </p:sp>
      <p:sp>
        <p:nvSpPr>
          <p:cNvPr id="14" name="TextBox 13"/>
          <p:cNvSpPr txBox="1"/>
          <p:nvPr/>
        </p:nvSpPr>
        <p:spPr>
          <a:xfrm>
            <a:off x="6623298" y="3152923"/>
            <a:ext cx="95250" cy="304800"/>
          </a:xfrm>
          <a:prstGeom prst="rect">
            <a:avLst/>
          </a:prstGeom>
          <a:noFill/>
        </p:spPr>
        <p:txBody>
          <a:bodyPr wrap="square" lIns="0" tIns="0" rIns="0" bIns="0" anchor="t">
            <a:spAutoFit/>
          </a:bodyPr>
          <a:lstStyle/>
          <a:p>
            <a:pPr algn="l">
              <a:lnSpc>
                <a:spcPts val="2392"/>
              </a:lnSpc>
            </a:pPr>
            <a:r>
              <a:rPr sz="1650" b="1" i="0" u="none">
                <a:solidFill>
                  <a:srgbClr val="FA643F"/>
                </a:solidFill>
                <a:latin typeface="Inter"/>
              </a:rPr>
              <a:t>•</a:t>
            </a:r>
          </a:p>
        </p:txBody>
      </p:sp>
      <p:sp>
        <p:nvSpPr>
          <p:cNvPr id="15" name="TextBox 14"/>
          <p:cNvSpPr txBox="1"/>
          <p:nvPr/>
        </p:nvSpPr>
        <p:spPr>
          <a:xfrm>
            <a:off x="6623298" y="3681561"/>
            <a:ext cx="95250" cy="304800"/>
          </a:xfrm>
          <a:prstGeom prst="rect">
            <a:avLst/>
          </a:prstGeom>
          <a:noFill/>
        </p:spPr>
        <p:txBody>
          <a:bodyPr wrap="square" lIns="0" tIns="0" rIns="0" bIns="0" anchor="t">
            <a:spAutoFit/>
          </a:bodyPr>
          <a:lstStyle/>
          <a:p>
            <a:pPr algn="l">
              <a:lnSpc>
                <a:spcPts val="2392"/>
              </a:lnSpc>
            </a:pPr>
            <a:r>
              <a:rPr sz="1650" b="1" i="0" u="none">
                <a:solidFill>
                  <a:srgbClr val="FA643F"/>
                </a:solidFill>
                <a:latin typeface="Inter"/>
              </a:rPr>
              <a:t>•</a:t>
            </a:r>
          </a:p>
        </p:txBody>
      </p:sp>
      <p:sp>
        <p:nvSpPr>
          <p:cNvPr id="16" name="TextBox 15"/>
          <p:cNvSpPr txBox="1"/>
          <p:nvPr/>
        </p:nvSpPr>
        <p:spPr>
          <a:xfrm>
            <a:off x="6623298" y="4417367"/>
            <a:ext cx="95250" cy="304800"/>
          </a:xfrm>
          <a:prstGeom prst="rect">
            <a:avLst/>
          </a:prstGeom>
          <a:noFill/>
        </p:spPr>
        <p:txBody>
          <a:bodyPr wrap="square" lIns="0" tIns="0" rIns="0" bIns="0" anchor="t">
            <a:spAutoFit/>
          </a:bodyPr>
          <a:lstStyle/>
          <a:p>
            <a:pPr algn="l">
              <a:lnSpc>
                <a:spcPts val="2392"/>
              </a:lnSpc>
            </a:pPr>
            <a:r>
              <a:rPr sz="1650" b="1" i="0" u="none">
                <a:solidFill>
                  <a:srgbClr val="FA643F"/>
                </a:solidFill>
                <a:latin typeface="Inter"/>
              </a:rPr>
              <a:t>•</a:t>
            </a:r>
          </a:p>
        </p:txBody>
      </p:sp>
      <p:sp>
        <p:nvSpPr>
          <p:cNvPr id="17" name="TextBox 16"/>
          <p:cNvSpPr txBox="1"/>
          <p:nvPr/>
        </p:nvSpPr>
        <p:spPr>
          <a:xfrm>
            <a:off x="533400" y="419100"/>
            <a:ext cx="11658600" cy="388590"/>
          </a:xfrm>
          <a:prstGeom prst="rect">
            <a:avLst/>
          </a:prstGeom>
          <a:noFill/>
        </p:spPr>
        <p:txBody>
          <a:bodyPr wrap="square" lIns="0" tIns="0" rIns="0" bIns="0" anchor="t">
            <a:spAutoFit/>
          </a:bodyPr>
          <a:lstStyle/>
          <a:p>
            <a:pPr algn="l">
              <a:lnSpc>
                <a:spcPts val="3060"/>
              </a:lnSpc>
            </a:pPr>
            <a:r>
              <a:rPr sz="2550" b="1" i="0" u="none">
                <a:solidFill>
                  <a:srgbClr val="0F172A"/>
                </a:solidFill>
                <a:latin typeface="Poppins"/>
              </a:rPr>
              <a:t>Passenger Count Analysis</a:t>
            </a:r>
          </a:p>
        </p:txBody>
      </p:sp>
      <p:sp>
        <p:nvSpPr>
          <p:cNvPr id="18" name="Rounded Rectangle 17"/>
          <p:cNvSpPr/>
          <p:nvPr/>
        </p:nvSpPr>
        <p:spPr>
          <a:xfrm>
            <a:off x="5791200" y="594345"/>
            <a:ext cx="609600" cy="38100"/>
          </a:xfrm>
          <a:prstGeom prst="roundRect">
            <a:avLst>
              <a:gd name="adj" fmla="val 50000"/>
            </a:avLst>
          </a:prstGeom>
          <a:solidFill>
            <a:srgbClr val="FA64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1727745"/>
            <a:ext cx="5006280" cy="4019550"/>
          </a:xfrm>
          <a:prstGeom prst="rect">
            <a:avLst/>
          </a:prstGeom>
        </p:spPr>
      </p:pic>
      <p:pic>
        <p:nvPicPr>
          <p:cNvPr id="4" name="Picture 3" descr="image.png"/>
          <p:cNvPicPr>
            <a:picLocks noChangeAspect="1"/>
          </p:cNvPicPr>
          <p:nvPr/>
        </p:nvPicPr>
        <p:blipFill>
          <a:blip r:embed="rId4"/>
          <a:stretch>
            <a:fillRect/>
          </a:stretch>
        </p:blipFill>
        <p:spPr>
          <a:xfrm>
            <a:off x="676275" y="1870620"/>
            <a:ext cx="4720530" cy="3524250"/>
          </a:xfrm>
          <a:prstGeom prst="rect">
            <a:avLst/>
          </a:prstGeom>
        </p:spPr>
      </p:pic>
      <p:pic>
        <p:nvPicPr>
          <p:cNvPr id="5" name="Picture 4" descr="image.png"/>
          <p:cNvPicPr>
            <a:picLocks noChangeAspect="1"/>
          </p:cNvPicPr>
          <p:nvPr/>
        </p:nvPicPr>
        <p:blipFill>
          <a:blip r:embed="rId5"/>
          <a:stretch>
            <a:fillRect/>
          </a:stretch>
        </p:blipFill>
        <p:spPr>
          <a:xfrm>
            <a:off x="5806380" y="2000250"/>
            <a:ext cx="6118770" cy="1371600"/>
          </a:xfrm>
          <a:prstGeom prst="rect">
            <a:avLst/>
          </a:prstGeom>
        </p:spPr>
      </p:pic>
      <p:pic>
        <p:nvPicPr>
          <p:cNvPr id="6" name="Picture 5" descr="image.png"/>
          <p:cNvPicPr>
            <a:picLocks noChangeAspect="1"/>
          </p:cNvPicPr>
          <p:nvPr/>
        </p:nvPicPr>
        <p:blipFill>
          <a:blip r:embed="rId6"/>
          <a:stretch>
            <a:fillRect/>
          </a:stretch>
        </p:blipFill>
        <p:spPr>
          <a:xfrm>
            <a:off x="5806380" y="3524250"/>
            <a:ext cx="6118770" cy="1950541"/>
          </a:xfrm>
          <a:prstGeom prst="rect">
            <a:avLst/>
          </a:prstGeom>
        </p:spPr>
      </p:pic>
      <p:pic>
        <p:nvPicPr>
          <p:cNvPr id="7" name="Picture 6" descr="image.png"/>
          <p:cNvPicPr>
            <a:picLocks noChangeAspect="1"/>
          </p:cNvPicPr>
          <p:nvPr/>
        </p:nvPicPr>
        <p:blipFill>
          <a:blip r:embed="rId7"/>
          <a:stretch>
            <a:fillRect/>
          </a:stretch>
        </p:blipFill>
        <p:spPr>
          <a:xfrm>
            <a:off x="533400" y="6367462"/>
            <a:ext cx="11125200" cy="300037"/>
          </a:xfrm>
          <a:prstGeom prst="rect">
            <a:avLst/>
          </a:prstGeom>
        </p:spPr>
      </p:pic>
      <p:sp>
        <p:nvSpPr>
          <p:cNvPr id="8" name="TextBox 7"/>
          <p:cNvSpPr txBox="1"/>
          <p:nvPr/>
        </p:nvSpPr>
        <p:spPr>
          <a:xfrm>
            <a:off x="533400" y="6453187"/>
            <a:ext cx="2162175"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Statistical A/B Hypothesis Proof</a:t>
            </a:r>
          </a:p>
        </p:txBody>
      </p:sp>
      <p:sp>
        <p:nvSpPr>
          <p:cNvPr id="9" name="TextBox 8"/>
          <p:cNvSpPr txBox="1"/>
          <p:nvPr/>
        </p:nvSpPr>
        <p:spPr>
          <a:xfrm>
            <a:off x="10896600" y="6453187"/>
            <a:ext cx="762000"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Slide 10 / 11</a:t>
            </a:r>
          </a:p>
        </p:txBody>
      </p:sp>
      <p:sp>
        <p:nvSpPr>
          <p:cNvPr id="10" name="TextBox 9"/>
          <p:cNvSpPr txBox="1"/>
          <p:nvPr/>
        </p:nvSpPr>
        <p:spPr>
          <a:xfrm>
            <a:off x="676275" y="5432970"/>
            <a:ext cx="4720530" cy="171450"/>
          </a:xfrm>
          <a:prstGeom prst="rect">
            <a:avLst/>
          </a:prstGeom>
          <a:noFill/>
        </p:spPr>
        <p:txBody>
          <a:bodyPr wrap="square" lIns="0" tIns="0" rIns="0" bIns="0" anchor="t">
            <a:spAutoFit/>
          </a:bodyPr>
          <a:lstStyle/>
          <a:p>
            <a:pPr algn="ctr">
              <a:lnSpc>
                <a:spcPts val="1350"/>
              </a:lnSpc>
            </a:pPr>
            <a:r>
              <a:rPr sz="900" b="0" i="0" u="none">
                <a:solidFill>
                  <a:srgbClr val="64748B"/>
                </a:solidFill>
                <a:latin typeface="Inter SemiBold"/>
              </a:rPr>
              <a:t>Q-Q Plot: CLT ensures mean normality ( )</a:t>
            </a:r>
          </a:p>
        </p:txBody>
      </p:sp>
      <p:pic>
        <p:nvPicPr>
          <p:cNvPr id="11" name="Picture 10" descr="image.png"/>
          <p:cNvPicPr>
            <a:picLocks noChangeAspect="1"/>
          </p:cNvPicPr>
          <p:nvPr/>
        </p:nvPicPr>
        <p:blipFill>
          <a:blip r:embed="rId8"/>
          <a:stretch>
            <a:fillRect/>
          </a:stretch>
        </p:blipFill>
        <p:spPr>
          <a:xfrm>
            <a:off x="676275" y="1870620"/>
            <a:ext cx="4720530" cy="3524250"/>
          </a:xfrm>
          <a:prstGeom prst="rect">
            <a:avLst/>
          </a:prstGeom>
        </p:spPr>
      </p:pic>
      <p:pic>
        <p:nvPicPr>
          <p:cNvPr id="12" name="Picture 11" descr="image.png"/>
          <p:cNvPicPr>
            <a:picLocks noChangeAspect="1"/>
          </p:cNvPicPr>
          <p:nvPr/>
        </p:nvPicPr>
        <p:blipFill>
          <a:blip r:embed="rId9"/>
          <a:stretch>
            <a:fillRect/>
          </a:stretch>
        </p:blipFill>
        <p:spPr>
          <a:xfrm>
            <a:off x="3861494" y="5480595"/>
            <a:ext cx="512266" cy="76200"/>
          </a:xfrm>
          <a:prstGeom prst="rect">
            <a:avLst/>
          </a:prstGeom>
        </p:spPr>
      </p:pic>
      <p:sp>
        <p:nvSpPr>
          <p:cNvPr id="13" name="TextBox 12"/>
          <p:cNvSpPr txBox="1"/>
          <p:nvPr/>
        </p:nvSpPr>
        <p:spPr>
          <a:xfrm>
            <a:off x="6054030" y="2219325"/>
            <a:ext cx="5652045" cy="428625"/>
          </a:xfrm>
          <a:prstGeom prst="rect">
            <a:avLst/>
          </a:prstGeom>
          <a:noFill/>
        </p:spPr>
        <p:txBody>
          <a:bodyPr wrap="square" lIns="0" tIns="0" rIns="0" bIns="0" anchor="t">
            <a:spAutoFit/>
          </a:bodyPr>
          <a:lstStyle/>
          <a:p>
            <a:pPr algn="l">
              <a:lnSpc>
                <a:spcPts val="1687"/>
              </a:lnSpc>
            </a:pPr>
            <a:r>
              <a:rPr sz="1125" b="1" i="0" u="none">
                <a:solidFill>
                  <a:srgbClr val="334155"/>
                </a:solidFill>
                <a:latin typeface="Inter"/>
              </a:rPr>
              <a:t>Null hypothesis ( ):</a:t>
            </a:r>
            <a:r>
              <a:rPr sz="1125" b="0" i="0" u="none">
                <a:solidFill>
                  <a:srgbClr val="334155"/>
                </a:solidFill>
                <a:latin typeface="Inter"/>
              </a:rPr>
              <a:t> There is no difference in average fare between customers who use credit cards and customers who use cash.</a:t>
            </a:r>
          </a:p>
        </p:txBody>
      </p:sp>
      <p:sp>
        <p:nvSpPr>
          <p:cNvPr id="14" name="TextBox 13"/>
          <p:cNvSpPr txBox="1"/>
          <p:nvPr/>
        </p:nvSpPr>
        <p:spPr>
          <a:xfrm>
            <a:off x="6054030" y="2724150"/>
            <a:ext cx="5652045" cy="428625"/>
          </a:xfrm>
          <a:prstGeom prst="rect">
            <a:avLst/>
          </a:prstGeom>
          <a:noFill/>
        </p:spPr>
        <p:txBody>
          <a:bodyPr wrap="square" lIns="0" tIns="0" rIns="0" bIns="0" anchor="t">
            <a:spAutoFit/>
          </a:bodyPr>
          <a:lstStyle/>
          <a:p>
            <a:pPr algn="l">
              <a:lnSpc>
                <a:spcPts val="1687"/>
              </a:lnSpc>
            </a:pPr>
            <a:r>
              <a:rPr sz="1125" b="1" i="0" u="none">
                <a:solidFill>
                  <a:srgbClr val="334155"/>
                </a:solidFill>
                <a:latin typeface="Inter"/>
              </a:rPr>
              <a:t>Alternative hypothesis ( ):</a:t>
            </a:r>
            <a:r>
              <a:rPr sz="1125" b="0" i="0" u="none">
                <a:solidFill>
                  <a:srgbClr val="334155"/>
                </a:solidFill>
                <a:latin typeface="Inter"/>
              </a:rPr>
              <a:t> There is a difference in average fare between customers who use credit cards and customers who use cash.</a:t>
            </a:r>
          </a:p>
        </p:txBody>
      </p:sp>
      <p:sp>
        <p:nvSpPr>
          <p:cNvPr id="15" name="TextBox 14"/>
          <p:cNvSpPr txBox="1"/>
          <p:nvPr/>
        </p:nvSpPr>
        <p:spPr>
          <a:xfrm>
            <a:off x="5987355" y="3705225"/>
            <a:ext cx="6044661" cy="247650"/>
          </a:xfrm>
          <a:prstGeom prst="rect">
            <a:avLst/>
          </a:prstGeom>
          <a:noFill/>
        </p:spPr>
        <p:txBody>
          <a:bodyPr wrap="square" lIns="0" tIns="0" rIns="0" bIns="0" anchor="t">
            <a:spAutoFit/>
          </a:bodyPr>
          <a:lstStyle/>
          <a:p>
            <a:pPr algn="l"/>
            <a:r>
              <a:rPr sz="1275" b="1" i="0" u="none">
                <a:solidFill>
                  <a:srgbClr val="166534"/>
                </a:solidFill>
                <a:latin typeface="Poppins"/>
              </a:rPr>
              <a:t>Welch's Two-Sample T-Test Output</a:t>
            </a:r>
          </a:p>
        </p:txBody>
      </p:sp>
      <p:sp>
        <p:nvSpPr>
          <p:cNvPr id="16" name="TextBox 15"/>
          <p:cNvSpPr txBox="1"/>
          <p:nvPr/>
        </p:nvSpPr>
        <p:spPr>
          <a:xfrm>
            <a:off x="5987355" y="4733925"/>
            <a:ext cx="5756820" cy="559891"/>
          </a:xfrm>
          <a:prstGeom prst="rect">
            <a:avLst/>
          </a:prstGeom>
          <a:noFill/>
        </p:spPr>
        <p:txBody>
          <a:bodyPr wrap="square" lIns="0" tIns="0" rIns="0" bIns="0" anchor="t">
            <a:spAutoFit/>
          </a:bodyPr>
          <a:lstStyle/>
          <a:p>
            <a:pPr algn="l">
              <a:lnSpc>
                <a:spcPts val="1470"/>
              </a:lnSpc>
            </a:pPr>
            <a:r>
              <a:rPr sz="1050" b="0" i="0" u="none">
                <a:solidFill>
                  <a:srgbClr val="166534"/>
                </a:solidFill>
                <a:latin typeface="Inter"/>
              </a:rPr>
              <a:t>With a T-statistic of 155.24 and a P-value far below 0.05, we </a:t>
            </a:r>
            <a:r>
              <a:rPr sz="1050" b="1" i="0" u="none">
                <a:solidFill>
                  <a:srgbClr val="166534"/>
                </a:solidFill>
                <a:latin typeface="Inter"/>
              </a:rPr>
              <a:t>decisively reject the null hypothesis</a:t>
            </a:r>
            <a:r>
              <a:rPr sz="1050" b="0" i="0" u="none">
                <a:solidFill>
                  <a:srgbClr val="166534"/>
                </a:solidFill>
                <a:latin typeface="Inter"/>
              </a:rPr>
              <a:t>. There is indeed a statistically significant difference in average fare between payment channels.</a:t>
            </a:r>
          </a:p>
        </p:txBody>
      </p:sp>
      <p:pic>
        <p:nvPicPr>
          <p:cNvPr id="17" name="Picture 16" descr="image.png"/>
          <p:cNvPicPr>
            <a:picLocks noChangeAspect="1"/>
          </p:cNvPicPr>
          <p:nvPr/>
        </p:nvPicPr>
        <p:blipFill>
          <a:blip r:embed="rId10"/>
          <a:stretch>
            <a:fillRect/>
          </a:stretch>
        </p:blipFill>
        <p:spPr>
          <a:xfrm>
            <a:off x="7254180" y="2276475"/>
            <a:ext cx="182612" cy="127992"/>
          </a:xfrm>
          <a:prstGeom prst="rect">
            <a:avLst/>
          </a:prstGeom>
        </p:spPr>
      </p:pic>
      <p:pic>
        <p:nvPicPr>
          <p:cNvPr id="18" name="Picture 17" descr="image.png"/>
          <p:cNvPicPr>
            <a:picLocks noChangeAspect="1"/>
          </p:cNvPicPr>
          <p:nvPr/>
        </p:nvPicPr>
        <p:blipFill>
          <a:blip r:embed="rId11"/>
          <a:stretch>
            <a:fillRect/>
          </a:stretch>
        </p:blipFill>
        <p:spPr>
          <a:xfrm>
            <a:off x="7768530" y="2781300"/>
            <a:ext cx="176956" cy="127992"/>
          </a:xfrm>
          <a:prstGeom prst="rect">
            <a:avLst/>
          </a:prstGeom>
        </p:spPr>
      </p:pic>
      <p:sp>
        <p:nvSpPr>
          <p:cNvPr id="19" name="TextBox 18"/>
          <p:cNvSpPr txBox="1"/>
          <p:nvPr/>
        </p:nvSpPr>
        <p:spPr>
          <a:xfrm>
            <a:off x="5987355" y="4105275"/>
            <a:ext cx="714375" cy="142875"/>
          </a:xfrm>
          <a:prstGeom prst="rect">
            <a:avLst/>
          </a:prstGeom>
          <a:noFill/>
        </p:spPr>
        <p:txBody>
          <a:bodyPr wrap="square" lIns="0" tIns="0" rIns="0" bIns="0" anchor="t">
            <a:spAutoFit/>
          </a:bodyPr>
          <a:lstStyle/>
          <a:p>
            <a:pPr algn="l">
              <a:lnSpc>
                <a:spcPts val="1350"/>
              </a:lnSpc>
            </a:pPr>
            <a:r>
              <a:rPr sz="900" b="0" i="0" u="none">
                <a:solidFill>
                  <a:srgbClr val="166534"/>
                </a:solidFill>
                <a:latin typeface="Inter SemiBold"/>
              </a:rPr>
              <a:t>T-STATISTIC</a:t>
            </a:r>
          </a:p>
        </p:txBody>
      </p:sp>
      <p:sp>
        <p:nvSpPr>
          <p:cNvPr id="20" name="TextBox 19"/>
          <p:cNvSpPr txBox="1"/>
          <p:nvPr/>
        </p:nvSpPr>
        <p:spPr>
          <a:xfrm>
            <a:off x="5987355" y="4267200"/>
            <a:ext cx="2821185" cy="371475"/>
          </a:xfrm>
          <a:prstGeom prst="rect">
            <a:avLst/>
          </a:prstGeom>
          <a:noFill/>
        </p:spPr>
        <p:txBody>
          <a:bodyPr wrap="square" lIns="0" tIns="0" rIns="0" bIns="0" anchor="t">
            <a:spAutoFit/>
          </a:bodyPr>
          <a:lstStyle/>
          <a:p>
            <a:pPr algn="l">
              <a:lnSpc>
                <a:spcPts val="2925"/>
              </a:lnSpc>
            </a:pPr>
            <a:r>
              <a:rPr sz="1950" b="1" i="0" u="none">
                <a:solidFill>
                  <a:srgbClr val="166534"/>
                </a:solidFill>
                <a:latin typeface="Inter"/>
              </a:rPr>
              <a:t>t = 155.24</a:t>
            </a:r>
          </a:p>
        </p:txBody>
      </p:sp>
      <p:sp>
        <p:nvSpPr>
          <p:cNvPr id="21" name="TextBox 20"/>
          <p:cNvSpPr txBox="1"/>
          <p:nvPr/>
        </p:nvSpPr>
        <p:spPr>
          <a:xfrm>
            <a:off x="8922841" y="4105275"/>
            <a:ext cx="1152525" cy="142875"/>
          </a:xfrm>
          <a:prstGeom prst="rect">
            <a:avLst/>
          </a:prstGeom>
          <a:noFill/>
        </p:spPr>
        <p:txBody>
          <a:bodyPr wrap="square" lIns="0" tIns="0" rIns="0" bIns="0" anchor="t">
            <a:spAutoFit/>
          </a:bodyPr>
          <a:lstStyle/>
          <a:p>
            <a:pPr algn="l">
              <a:lnSpc>
                <a:spcPts val="1350"/>
              </a:lnSpc>
            </a:pPr>
            <a:r>
              <a:rPr sz="900" b="0" i="0" u="none">
                <a:solidFill>
                  <a:srgbClr val="166534"/>
                </a:solidFill>
                <a:latin typeface="Inter SemiBold"/>
              </a:rPr>
              <a:t>OBSERVED P-VALUE</a:t>
            </a:r>
          </a:p>
        </p:txBody>
      </p:sp>
      <p:sp>
        <p:nvSpPr>
          <p:cNvPr id="22" name="TextBox 21"/>
          <p:cNvSpPr txBox="1"/>
          <p:nvPr/>
        </p:nvSpPr>
        <p:spPr>
          <a:xfrm>
            <a:off x="8922841" y="4267200"/>
            <a:ext cx="2821334" cy="371475"/>
          </a:xfrm>
          <a:prstGeom prst="rect">
            <a:avLst/>
          </a:prstGeom>
          <a:noFill/>
        </p:spPr>
        <p:txBody>
          <a:bodyPr wrap="square" lIns="0" tIns="0" rIns="0" bIns="0" anchor="t">
            <a:spAutoFit/>
          </a:bodyPr>
          <a:lstStyle/>
          <a:p>
            <a:pPr algn="l">
              <a:lnSpc>
                <a:spcPts val="2925"/>
              </a:lnSpc>
            </a:pPr>
            <a:r>
              <a:rPr sz="1950" b="1" i="0" u="none">
                <a:solidFill>
                  <a:srgbClr val="166534"/>
                </a:solidFill>
                <a:latin typeface="Inter"/>
              </a:rPr>
              <a:t>p = 0.0000</a:t>
            </a:r>
          </a:p>
        </p:txBody>
      </p:sp>
      <p:sp>
        <p:nvSpPr>
          <p:cNvPr id="23" name="TextBox 22"/>
          <p:cNvSpPr txBox="1"/>
          <p:nvPr/>
        </p:nvSpPr>
        <p:spPr>
          <a:xfrm>
            <a:off x="533400" y="419100"/>
            <a:ext cx="11658600" cy="388590"/>
          </a:xfrm>
          <a:prstGeom prst="rect">
            <a:avLst/>
          </a:prstGeom>
          <a:noFill/>
        </p:spPr>
        <p:txBody>
          <a:bodyPr wrap="square" lIns="0" tIns="0" rIns="0" bIns="0" anchor="t">
            <a:spAutoFit/>
          </a:bodyPr>
          <a:lstStyle/>
          <a:p>
            <a:pPr algn="l">
              <a:lnSpc>
                <a:spcPts val="3060"/>
              </a:lnSpc>
            </a:pPr>
            <a:r>
              <a:rPr sz="2550" b="1" i="0" u="none">
                <a:solidFill>
                  <a:srgbClr val="0F172A"/>
                </a:solidFill>
                <a:latin typeface="Poppins"/>
              </a:rPr>
              <a:t>Hypothesis Testing</a:t>
            </a:r>
          </a:p>
        </p:txBody>
      </p:sp>
      <p:sp>
        <p:nvSpPr>
          <p:cNvPr id="24" name="Rounded Rectangle 23"/>
          <p:cNvSpPr/>
          <p:nvPr/>
        </p:nvSpPr>
        <p:spPr>
          <a:xfrm>
            <a:off x="5791200" y="594345"/>
            <a:ext cx="609600" cy="38100"/>
          </a:xfrm>
          <a:prstGeom prst="roundRect">
            <a:avLst>
              <a:gd name="adj" fmla="val 50000"/>
            </a:avLst>
          </a:prstGeom>
          <a:solidFill>
            <a:srgbClr val="FA64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2089695"/>
            <a:ext cx="11125200" cy="971550"/>
          </a:xfrm>
          <a:prstGeom prst="rect">
            <a:avLst/>
          </a:prstGeom>
        </p:spPr>
      </p:pic>
      <p:pic>
        <p:nvPicPr>
          <p:cNvPr id="4" name="Picture 3" descr="image.png"/>
          <p:cNvPicPr>
            <a:picLocks noChangeAspect="1"/>
          </p:cNvPicPr>
          <p:nvPr/>
        </p:nvPicPr>
        <p:blipFill>
          <a:blip r:embed="rId4"/>
          <a:stretch>
            <a:fillRect/>
          </a:stretch>
        </p:blipFill>
        <p:spPr>
          <a:xfrm>
            <a:off x="533400" y="3251745"/>
            <a:ext cx="11125200" cy="971550"/>
          </a:xfrm>
          <a:prstGeom prst="rect">
            <a:avLst/>
          </a:prstGeom>
        </p:spPr>
      </p:pic>
      <p:pic>
        <p:nvPicPr>
          <p:cNvPr id="5" name="Picture 4" descr="image.png"/>
          <p:cNvPicPr>
            <a:picLocks noChangeAspect="1"/>
          </p:cNvPicPr>
          <p:nvPr/>
        </p:nvPicPr>
        <p:blipFill>
          <a:blip r:embed="rId5"/>
          <a:stretch>
            <a:fillRect/>
          </a:stretch>
        </p:blipFill>
        <p:spPr>
          <a:xfrm>
            <a:off x="533400" y="4413795"/>
            <a:ext cx="11125200" cy="971550"/>
          </a:xfrm>
          <a:prstGeom prst="rect">
            <a:avLst/>
          </a:prstGeom>
        </p:spPr>
      </p:pic>
      <p:pic>
        <p:nvPicPr>
          <p:cNvPr id="6" name="Picture 5" descr="image.png"/>
          <p:cNvPicPr>
            <a:picLocks noChangeAspect="1"/>
          </p:cNvPicPr>
          <p:nvPr/>
        </p:nvPicPr>
        <p:blipFill>
          <a:blip r:embed="rId6"/>
          <a:stretch>
            <a:fillRect/>
          </a:stretch>
        </p:blipFill>
        <p:spPr>
          <a:xfrm>
            <a:off x="533400" y="6367462"/>
            <a:ext cx="11125200" cy="300037"/>
          </a:xfrm>
          <a:prstGeom prst="rect">
            <a:avLst/>
          </a:prstGeom>
        </p:spPr>
      </p:pic>
      <p:sp>
        <p:nvSpPr>
          <p:cNvPr id="7" name="TextBox 6"/>
          <p:cNvSpPr txBox="1"/>
          <p:nvPr/>
        </p:nvSpPr>
        <p:spPr>
          <a:xfrm>
            <a:off x="533400" y="6453187"/>
            <a:ext cx="2057400"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Strategic Business Takeaways</a:t>
            </a:r>
          </a:p>
        </p:txBody>
      </p:sp>
      <p:sp>
        <p:nvSpPr>
          <p:cNvPr id="8" name="TextBox 7"/>
          <p:cNvSpPr txBox="1"/>
          <p:nvPr/>
        </p:nvSpPr>
        <p:spPr>
          <a:xfrm>
            <a:off x="10925175" y="6453187"/>
            <a:ext cx="733425" cy="214312"/>
          </a:xfrm>
          <a:prstGeom prst="rect">
            <a:avLst/>
          </a:prstGeom>
          <a:noFill/>
        </p:spPr>
        <p:txBody>
          <a:bodyPr wrap="square" lIns="0" tIns="0" rIns="0" bIns="0" anchor="t">
            <a:spAutoFit/>
          </a:bodyPr>
          <a:lstStyle/>
          <a:p>
            <a:pPr algn="l">
              <a:lnSpc>
                <a:spcPts val="1687"/>
              </a:lnSpc>
            </a:pPr>
            <a:r>
              <a:rPr sz="1125" b="0" i="0" u="none">
                <a:solidFill>
                  <a:srgbClr val="334155"/>
                </a:solidFill>
                <a:latin typeface="Inter"/>
              </a:rPr>
              <a:t>Slide 11 / 11</a:t>
            </a:r>
          </a:p>
        </p:txBody>
      </p:sp>
      <p:pic>
        <p:nvPicPr>
          <p:cNvPr id="9" name="Picture 8" descr="image.png"/>
          <p:cNvPicPr>
            <a:picLocks noChangeAspect="1"/>
          </p:cNvPicPr>
          <p:nvPr/>
        </p:nvPicPr>
        <p:blipFill>
          <a:blip r:embed="rId7"/>
          <a:stretch>
            <a:fillRect/>
          </a:stretch>
        </p:blipFill>
        <p:spPr>
          <a:xfrm>
            <a:off x="809625" y="2289720"/>
            <a:ext cx="571500" cy="571500"/>
          </a:xfrm>
          <a:prstGeom prst="rect">
            <a:avLst/>
          </a:prstGeom>
        </p:spPr>
      </p:pic>
      <p:pic>
        <p:nvPicPr>
          <p:cNvPr id="10" name="Picture 9" descr="image.png"/>
          <p:cNvPicPr>
            <a:picLocks noChangeAspect="1"/>
          </p:cNvPicPr>
          <p:nvPr/>
        </p:nvPicPr>
        <p:blipFill>
          <a:blip r:embed="rId8"/>
          <a:stretch>
            <a:fillRect/>
          </a:stretch>
        </p:blipFill>
        <p:spPr>
          <a:xfrm>
            <a:off x="809625" y="3451770"/>
            <a:ext cx="571500" cy="571500"/>
          </a:xfrm>
          <a:prstGeom prst="rect">
            <a:avLst/>
          </a:prstGeom>
        </p:spPr>
      </p:pic>
      <p:pic>
        <p:nvPicPr>
          <p:cNvPr id="11" name="Picture 10" descr="image.png"/>
          <p:cNvPicPr>
            <a:picLocks noChangeAspect="1"/>
          </p:cNvPicPr>
          <p:nvPr/>
        </p:nvPicPr>
        <p:blipFill>
          <a:blip r:embed="rId9"/>
          <a:stretch>
            <a:fillRect/>
          </a:stretch>
        </p:blipFill>
        <p:spPr>
          <a:xfrm>
            <a:off x="809625" y="4613820"/>
            <a:ext cx="571500" cy="571500"/>
          </a:xfrm>
          <a:prstGeom prst="rect">
            <a:avLst/>
          </a:prstGeom>
        </p:spPr>
      </p:pic>
      <p:pic>
        <p:nvPicPr>
          <p:cNvPr id="12" name="Picture 11" descr="image.png"/>
          <p:cNvPicPr>
            <a:picLocks noChangeAspect="1"/>
          </p:cNvPicPr>
          <p:nvPr/>
        </p:nvPicPr>
        <p:blipFill>
          <a:blip r:embed="rId10"/>
          <a:stretch>
            <a:fillRect/>
          </a:stretch>
        </p:blipFill>
        <p:spPr>
          <a:xfrm>
            <a:off x="1000125" y="2451645"/>
            <a:ext cx="190500" cy="247650"/>
          </a:xfrm>
          <a:prstGeom prst="rect">
            <a:avLst/>
          </a:prstGeom>
        </p:spPr>
      </p:pic>
      <p:sp>
        <p:nvSpPr>
          <p:cNvPr id="13" name="TextBox 12"/>
          <p:cNvSpPr txBox="1"/>
          <p:nvPr/>
        </p:nvSpPr>
        <p:spPr>
          <a:xfrm>
            <a:off x="1609725" y="2461170"/>
            <a:ext cx="9115425" cy="228600"/>
          </a:xfrm>
          <a:prstGeom prst="rect">
            <a:avLst/>
          </a:prstGeom>
          <a:noFill/>
        </p:spPr>
        <p:txBody>
          <a:bodyPr wrap="square" lIns="0" tIns="0" rIns="0" bIns="0" anchor="t">
            <a:spAutoFit/>
          </a:bodyPr>
          <a:lstStyle/>
          <a:p>
            <a:pPr algn="l">
              <a:lnSpc>
                <a:spcPts val="1800"/>
              </a:lnSpc>
            </a:pPr>
            <a:r>
              <a:rPr sz="1200" b="1" i="0" u="none">
                <a:solidFill>
                  <a:srgbClr val="0F172A"/>
                </a:solidFill>
                <a:latin typeface="Inter"/>
              </a:rPr>
              <a:t>Encourage customers to pay with credit cards</a:t>
            </a:r>
            <a:r>
              <a:rPr sz="1200" b="0" i="0" u="none">
                <a:solidFill>
                  <a:srgbClr val="0F172A"/>
                </a:solidFill>
                <a:latin typeface="Inter"/>
              </a:rPr>
              <a:t> to capitalize on the potential for generating more revenue for taxi cab drivers.</a:t>
            </a:r>
          </a:p>
        </p:txBody>
      </p:sp>
      <p:pic>
        <p:nvPicPr>
          <p:cNvPr id="14" name="Picture 13" descr="image.png"/>
          <p:cNvPicPr>
            <a:picLocks noChangeAspect="1"/>
          </p:cNvPicPr>
          <p:nvPr/>
        </p:nvPicPr>
        <p:blipFill>
          <a:blip r:embed="rId11"/>
          <a:stretch>
            <a:fillRect/>
          </a:stretch>
        </p:blipFill>
        <p:spPr>
          <a:xfrm>
            <a:off x="1009650" y="3623220"/>
            <a:ext cx="171450" cy="228600"/>
          </a:xfrm>
          <a:prstGeom prst="rect">
            <a:avLst/>
          </a:prstGeom>
        </p:spPr>
      </p:pic>
      <p:sp>
        <p:nvSpPr>
          <p:cNvPr id="15" name="TextBox 14"/>
          <p:cNvSpPr txBox="1"/>
          <p:nvPr/>
        </p:nvSpPr>
        <p:spPr>
          <a:xfrm>
            <a:off x="1609725" y="3508920"/>
            <a:ext cx="9772650" cy="457200"/>
          </a:xfrm>
          <a:prstGeom prst="rect">
            <a:avLst/>
          </a:prstGeom>
          <a:noFill/>
        </p:spPr>
        <p:txBody>
          <a:bodyPr wrap="square" lIns="0" tIns="0" rIns="0" bIns="0" anchor="t">
            <a:spAutoFit/>
          </a:bodyPr>
          <a:lstStyle/>
          <a:p>
            <a:pPr algn="l">
              <a:lnSpc>
                <a:spcPts val="1800"/>
              </a:lnSpc>
            </a:pPr>
            <a:r>
              <a:rPr sz="1200" b="1" i="0" u="none">
                <a:solidFill>
                  <a:srgbClr val="0F172A"/>
                </a:solidFill>
                <a:latin typeface="Inter"/>
              </a:rPr>
              <a:t>Implement strategies such as offering incentives or discounts</a:t>
            </a:r>
            <a:r>
              <a:rPr sz="1200" b="0" i="0" u="none">
                <a:solidFill>
                  <a:srgbClr val="0F172A"/>
                </a:solidFill>
                <a:latin typeface="Inter"/>
              </a:rPr>
              <a:t> for credit card transactions to incentivize customers to choose this payment method.</a:t>
            </a:r>
          </a:p>
        </p:txBody>
      </p:sp>
      <p:pic>
        <p:nvPicPr>
          <p:cNvPr id="16" name="Picture 15" descr="image.png"/>
          <p:cNvPicPr>
            <a:picLocks noChangeAspect="1"/>
          </p:cNvPicPr>
          <p:nvPr/>
        </p:nvPicPr>
        <p:blipFill>
          <a:blip r:embed="rId12"/>
          <a:stretch>
            <a:fillRect/>
          </a:stretch>
        </p:blipFill>
        <p:spPr>
          <a:xfrm>
            <a:off x="981075" y="4785270"/>
            <a:ext cx="228600" cy="228600"/>
          </a:xfrm>
          <a:prstGeom prst="rect">
            <a:avLst/>
          </a:prstGeom>
        </p:spPr>
      </p:pic>
      <p:sp>
        <p:nvSpPr>
          <p:cNvPr id="17" name="TextBox 16"/>
          <p:cNvSpPr txBox="1"/>
          <p:nvPr/>
        </p:nvSpPr>
        <p:spPr>
          <a:xfrm>
            <a:off x="1609725" y="4670970"/>
            <a:ext cx="9772650" cy="457200"/>
          </a:xfrm>
          <a:prstGeom prst="rect">
            <a:avLst/>
          </a:prstGeom>
          <a:noFill/>
        </p:spPr>
        <p:txBody>
          <a:bodyPr wrap="square" lIns="0" tIns="0" rIns="0" bIns="0" anchor="t">
            <a:spAutoFit/>
          </a:bodyPr>
          <a:lstStyle/>
          <a:p>
            <a:pPr algn="l">
              <a:lnSpc>
                <a:spcPts val="1800"/>
              </a:lnSpc>
            </a:pPr>
            <a:r>
              <a:rPr sz="1200" b="1" i="0" u="none">
                <a:solidFill>
                  <a:srgbClr val="0F172A"/>
                </a:solidFill>
                <a:latin typeface="Inter"/>
              </a:rPr>
              <a:t>Provide seamless and secure credit card payment options</a:t>
            </a:r>
            <a:r>
              <a:rPr sz="1200" b="0" i="0" u="none">
                <a:solidFill>
                  <a:srgbClr val="0F172A"/>
                </a:solidFill>
                <a:latin typeface="Inter"/>
              </a:rPr>
              <a:t> to enhance customer convenience and encourage adoption of this preferred payment method.</a:t>
            </a:r>
          </a:p>
        </p:txBody>
      </p:sp>
      <p:sp>
        <p:nvSpPr>
          <p:cNvPr id="18" name="TextBox 17"/>
          <p:cNvSpPr txBox="1"/>
          <p:nvPr/>
        </p:nvSpPr>
        <p:spPr>
          <a:xfrm>
            <a:off x="533400" y="419100"/>
            <a:ext cx="11658600" cy="388590"/>
          </a:xfrm>
          <a:prstGeom prst="rect">
            <a:avLst/>
          </a:prstGeom>
          <a:noFill/>
        </p:spPr>
        <p:txBody>
          <a:bodyPr wrap="square" lIns="0" tIns="0" rIns="0" bIns="0" anchor="t">
            <a:spAutoFit/>
          </a:bodyPr>
          <a:lstStyle/>
          <a:p>
            <a:pPr algn="l">
              <a:lnSpc>
                <a:spcPts val="3060"/>
              </a:lnSpc>
            </a:pPr>
            <a:r>
              <a:rPr sz="2550" b="1" i="0" u="none">
                <a:solidFill>
                  <a:srgbClr val="0F172A"/>
                </a:solidFill>
                <a:latin typeface="Poppins"/>
              </a:rPr>
              <a:t>Recommendations</a:t>
            </a:r>
          </a:p>
        </p:txBody>
      </p:sp>
      <p:sp>
        <p:nvSpPr>
          <p:cNvPr id="19" name="Rounded Rectangle 18"/>
          <p:cNvSpPr/>
          <p:nvPr/>
        </p:nvSpPr>
        <p:spPr>
          <a:xfrm>
            <a:off x="5791200" y="594345"/>
            <a:ext cx="609600" cy="38100"/>
          </a:xfrm>
          <a:prstGeom prst="roundRect">
            <a:avLst>
              <a:gd name="adj" fmla="val 50000"/>
            </a:avLst>
          </a:prstGeom>
          <a:solidFill>
            <a:srgbClr val="FA64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33400" y="2885033"/>
            <a:ext cx="11125200" cy="9429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33400" y="3818483"/>
            <a:ext cx="111252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33400" y="3818483"/>
            <a:ext cx="111252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533400" y="3113633"/>
            <a:ext cx="857250" cy="476250"/>
          </a:xfrm>
          <a:prstGeom prst="rect">
            <a:avLst/>
          </a:prstGeom>
        </p:spPr>
      </p:pic>
      <p:sp>
        <p:nvSpPr>
          <p:cNvPr id="7" name="TextBox 6"/>
          <p:cNvSpPr txBox="1"/>
          <p:nvPr/>
        </p:nvSpPr>
        <p:spPr>
          <a:xfrm>
            <a:off x="1628775" y="3027908"/>
            <a:ext cx="10029825" cy="371475"/>
          </a:xfrm>
          <a:prstGeom prst="rect">
            <a:avLst/>
          </a:prstGeom>
          <a:noFill/>
        </p:spPr>
        <p:txBody>
          <a:bodyPr wrap="square" lIns="0" tIns="0" rIns="0" bIns="0" anchor="t">
            <a:spAutoFit/>
          </a:bodyPr>
          <a:lstStyle/>
          <a:p>
            <a:pPr algn="l">
              <a:lnSpc>
                <a:spcPts val="1462"/>
              </a:lnSpc>
            </a:pPr>
            <a:r>
              <a:rPr sz="975" b="0" i="0" u="none">
                <a:solidFill>
                  <a:srgbClr val="334155"/>
                </a:solidFill>
                <a:latin typeface="Inter"/>
              </a:rPr>
              <a:t>https://storage.ghost.io/c/3e/3b/3e3b259f-e5a2-4287-97e8-4888d22daaef/content/images/wp-content/uploads/2022/10/marvelous-mrs-maisel-filming-locations-horn-and-hardart-set-amazon-studios-crown-heights-brooklyn-nyc14.jpg</a:t>
            </a:r>
          </a:p>
        </p:txBody>
      </p:sp>
      <p:sp>
        <p:nvSpPr>
          <p:cNvPr id="8" name="TextBox 7"/>
          <p:cNvSpPr txBox="1"/>
          <p:nvPr/>
        </p:nvSpPr>
        <p:spPr>
          <a:xfrm>
            <a:off x="1628775" y="3447008"/>
            <a:ext cx="10029825" cy="228600"/>
          </a:xfrm>
          <a:prstGeom prst="rect">
            <a:avLst/>
          </a:prstGeom>
          <a:noFill/>
        </p:spPr>
        <p:txBody>
          <a:bodyPr wrap="square" lIns="0" tIns="0" rIns="0" bIns="0" anchor="t">
            <a:spAutoFit/>
          </a:bodyPr>
          <a:lstStyle/>
          <a:p>
            <a:pPr algn="l">
              <a:lnSpc>
                <a:spcPts val="1800"/>
              </a:lnSpc>
            </a:pPr>
            <a:r>
              <a:rPr sz="1200" b="0" i="0" u="none">
                <a:solidFill>
                  <a:srgbClr val="334155"/>
                </a:solidFill>
                <a:latin typeface="Inter"/>
              </a:rPr>
              <a:t>Source: </a:t>
            </a:r>
            <a:r>
              <a:rPr sz="1200" b="0" i="0" u="none">
                <a:solidFill>
                  <a:srgbClr val="4F46E5"/>
                </a:solidFill>
                <a:latin typeface="Inter"/>
              </a:rPr>
              <a:t>www.untappedcities.com</a:t>
            </a:r>
          </a:p>
        </p:txBody>
      </p:sp>
      <p:pic>
        <p:nvPicPr>
          <p:cNvPr id="9" name="Picture 8" descr="image.png"/>
          <p:cNvPicPr>
            <a:picLocks noChangeAspect="1"/>
          </p:cNvPicPr>
          <p:nvPr/>
        </p:nvPicPr>
        <p:blipFill>
          <a:blip r:embed="rId4"/>
          <a:stretch>
            <a:fillRect/>
          </a:stretch>
        </p:blipFill>
        <p:spPr>
          <a:xfrm>
            <a:off x="533400" y="3970883"/>
            <a:ext cx="857250" cy="476250"/>
          </a:xfrm>
          <a:prstGeom prst="rect">
            <a:avLst/>
          </a:prstGeom>
        </p:spPr>
      </p:pic>
      <p:sp>
        <p:nvSpPr>
          <p:cNvPr id="10" name="TextBox 9"/>
          <p:cNvSpPr txBox="1"/>
          <p:nvPr/>
        </p:nvSpPr>
        <p:spPr>
          <a:xfrm>
            <a:off x="1628775" y="3978026"/>
            <a:ext cx="10029825" cy="185737"/>
          </a:xfrm>
          <a:prstGeom prst="rect">
            <a:avLst/>
          </a:prstGeom>
          <a:noFill/>
        </p:spPr>
        <p:txBody>
          <a:bodyPr wrap="square" lIns="0" tIns="0" rIns="0" bIns="0" anchor="t">
            <a:spAutoFit/>
          </a:bodyPr>
          <a:lstStyle/>
          <a:p>
            <a:pPr algn="l">
              <a:lnSpc>
                <a:spcPts val="1462"/>
              </a:lnSpc>
            </a:pPr>
            <a:r>
              <a:rPr sz="975" b="0" i="0" u="none">
                <a:solidFill>
                  <a:srgbClr val="334155"/>
                </a:solidFill>
                <a:latin typeface="Inter"/>
              </a:rPr>
              <a:t>https://images.stockcake.com/public/a/d/6/ad6548c1-6114-462c-8769-404c126151fa_large/golden-success-arrow-stockcake.jpg</a:t>
            </a:r>
          </a:p>
        </p:txBody>
      </p:sp>
      <p:sp>
        <p:nvSpPr>
          <p:cNvPr id="11" name="TextBox 10"/>
          <p:cNvSpPr txBox="1"/>
          <p:nvPr/>
        </p:nvSpPr>
        <p:spPr>
          <a:xfrm>
            <a:off x="1628775" y="4211389"/>
            <a:ext cx="10029825" cy="228600"/>
          </a:xfrm>
          <a:prstGeom prst="rect">
            <a:avLst/>
          </a:prstGeom>
          <a:noFill/>
        </p:spPr>
        <p:txBody>
          <a:bodyPr wrap="square" lIns="0" tIns="0" rIns="0" bIns="0" anchor="t">
            <a:spAutoFit/>
          </a:bodyPr>
          <a:lstStyle/>
          <a:p>
            <a:pPr algn="l">
              <a:lnSpc>
                <a:spcPts val="1800"/>
              </a:lnSpc>
            </a:pPr>
            <a:r>
              <a:rPr sz="1200" b="0" i="0" u="none">
                <a:solidFill>
                  <a:srgbClr val="334155"/>
                </a:solidFill>
                <a:latin typeface="Inter"/>
              </a:rPr>
              <a:t>Source: </a:t>
            </a:r>
            <a:r>
              <a:rPr sz="1200" b="0" i="0" u="none">
                <a:solidFill>
                  <a:srgbClr val="4F46E5"/>
                </a:solidFill>
                <a:latin typeface="Inter"/>
              </a:rPr>
              <a:t>stockcake.com</a:t>
            </a:r>
          </a:p>
        </p:txBody>
      </p:sp>
      <p:sp>
        <p:nvSpPr>
          <p:cNvPr id="12" name="TextBox 11"/>
          <p:cNvSpPr txBox="1"/>
          <p:nvPr/>
        </p:nvSpPr>
        <p:spPr>
          <a:xfrm>
            <a:off x="533400" y="419100"/>
            <a:ext cx="11658600" cy="388590"/>
          </a:xfrm>
          <a:prstGeom prst="rect">
            <a:avLst/>
          </a:prstGeom>
          <a:noFill/>
        </p:spPr>
        <p:txBody>
          <a:bodyPr wrap="square" lIns="0" tIns="0" rIns="0" bIns="0" anchor="t">
            <a:spAutoFit/>
          </a:bodyPr>
          <a:lstStyle/>
          <a:p>
            <a:pPr algn="l">
              <a:lnSpc>
                <a:spcPts val="3060"/>
              </a:lnSpc>
            </a:pPr>
            <a:r>
              <a:rPr sz="2550" b="1" i="0" u="none">
                <a:solidFill>
                  <a:srgbClr val="0F172A"/>
                </a:solidFill>
                <a:latin typeface="Poppins"/>
              </a:rPr>
              <a:t>Image Sources</a:t>
            </a:r>
          </a:p>
        </p:txBody>
      </p:sp>
      <p:sp>
        <p:nvSpPr>
          <p:cNvPr id="13" name="Rounded Rectangle 12"/>
          <p:cNvSpPr/>
          <p:nvPr/>
        </p:nvSpPr>
        <p:spPr>
          <a:xfrm>
            <a:off x="5791200" y="594345"/>
            <a:ext cx="609600" cy="38100"/>
          </a:xfrm>
          <a:prstGeom prst="roundRect">
            <a:avLst>
              <a:gd name="adj" fmla="val 50000"/>
            </a:avLst>
          </a:prstGeom>
          <a:solidFill>
            <a:srgbClr val="FA64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1027</Words>
  <Application>Microsoft Office PowerPoint</Application>
  <PresentationFormat>Widescreen</PresentationFormat>
  <Paragraphs>166</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Calibri</vt:lpstr>
      <vt:lpstr>Inter</vt:lpstr>
      <vt:lpstr>Inter Medium</vt:lpstr>
      <vt:lpstr>Inter SemiBold</vt:lpstr>
      <vt:lpstr>Poppins</vt:lpstr>
      <vt:lpstr>Poppins ExtraBold</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Seema Kumari</dc:creator>
  <cp:keywords/>
  <dc:description>generated using python-pptx</dc:description>
  <cp:lastModifiedBy>Seema Kumari</cp:lastModifiedBy>
  <cp:revision>1</cp:revision>
  <dcterms:created xsi:type="dcterms:W3CDTF">2013-01-27T09:14:16Z</dcterms:created>
  <dcterms:modified xsi:type="dcterms:W3CDTF">2026-09-03T12:29:34Z</dcterms:modified>
  <cp:category/>
</cp:coreProperties>
</file>